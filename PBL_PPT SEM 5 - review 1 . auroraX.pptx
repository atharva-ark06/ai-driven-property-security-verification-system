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media/image3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44" r:id="rId3"/>
    <p:sldId id="257" r:id="rId4"/>
    <p:sldId id="285" r:id="rId5"/>
    <p:sldId id="258" r:id="rId6"/>
    <p:sldId id="259" r:id="rId7"/>
    <p:sldId id="294" r:id="rId8"/>
    <p:sldId id="260" r:id="rId9"/>
    <p:sldId id="298" r:id="rId10"/>
    <p:sldId id="299" r:id="rId11"/>
    <p:sldId id="297" r:id="rId12"/>
    <p:sldId id="293" r:id="rId13"/>
    <p:sldId id="264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6DF"/>
    <a:srgbClr val="F5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771" autoAdjust="0"/>
  </p:normalViewPr>
  <p:slideViewPr>
    <p:cSldViewPr>
      <p:cViewPr>
        <p:scale>
          <a:sx n="58" d="100"/>
          <a:sy n="58" d="100"/>
        </p:scale>
        <p:origin x="154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8D1678-841D-41C3-9D54-E8A78DB34FA5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77BABC57-DB5E-4B43-A6F2-A65CC5AFA5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 design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a secure and user-friendly system for property document verification.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0613C3CB-D728-424D-8F99-4CF4261BDFCE}" type="parTrans" cxnId="{F37D3994-B0ED-40E2-AAC7-A65B6EAD69BD}">
      <dgm:prSet/>
      <dgm:spPr/>
      <dgm:t>
        <a:bodyPr/>
        <a:lstStyle/>
        <a:p>
          <a:endParaRPr lang="en-US"/>
        </a:p>
      </dgm:t>
    </dgm:pt>
    <dgm:pt modelId="{21D94B67-C159-4700-A548-2D5C3D6D94D2}" type="sibTrans" cxnId="{F37D3994-B0ED-40E2-AAC7-A65B6EAD69BD}">
      <dgm:prSet/>
      <dgm:spPr/>
      <dgm:t>
        <a:bodyPr/>
        <a:lstStyle/>
        <a:p>
          <a:endParaRPr lang="en-US"/>
        </a:p>
      </dgm:t>
    </dgm:pt>
    <dgm:pt modelId="{84DFB0D1-FDF6-4EC0-A0CB-D24B574C0F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an AI-based document analysis and cross-verification system to identify mismatches, missing information, and potential risks.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3B31980C-E5E4-4A5C-B453-110D4E42812A}" type="parTrans" cxnId="{06BD2204-4027-4ED3-BE15-1A7775F4482C}">
      <dgm:prSet/>
      <dgm:spPr/>
      <dgm:t>
        <a:bodyPr/>
        <a:lstStyle/>
        <a:p>
          <a:endParaRPr lang="en-US"/>
        </a:p>
      </dgm:t>
    </dgm:pt>
    <dgm:pt modelId="{9D9FB6F8-235D-4A05-82D9-73BD47167BDE}" type="sibTrans" cxnId="{06BD2204-4027-4ED3-BE15-1A7775F4482C}">
      <dgm:prSet/>
      <dgm:spPr/>
      <dgm:t>
        <a:bodyPr/>
        <a:lstStyle/>
        <a:p>
          <a:endParaRPr lang="en-US"/>
        </a:p>
      </dgm:t>
    </dgm:pt>
    <dgm:pt modelId="{6FCE53FB-C479-434D-8EB2-9AD4F1265BC2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To implement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automated risk detection and verification report generation for faster and more reliable property verification.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AEAB47-91D4-47D7-B678-C779DE77A10B}" type="parTrans" cxnId="{B076EA7D-A616-4976-90B9-4212F4A8BF37}">
      <dgm:prSet/>
      <dgm:spPr/>
      <dgm:t>
        <a:bodyPr/>
        <a:lstStyle/>
        <a:p>
          <a:endParaRPr lang="en-US"/>
        </a:p>
      </dgm:t>
    </dgm:pt>
    <dgm:pt modelId="{6B6F7916-2A87-4F11-ACA3-F4DE4DA670CD}" type="sibTrans" cxnId="{B076EA7D-A616-4976-90B9-4212F4A8BF37}">
      <dgm:prSet/>
      <dgm:spPr/>
      <dgm:t>
        <a:bodyPr/>
        <a:lstStyle/>
        <a:p>
          <a:endParaRPr lang="en-US"/>
        </a:p>
      </dgm:t>
    </dgm:pt>
    <dgm:pt modelId="{4941D88B-06D8-47FE-9A9F-35CCF65963FB}" type="pres">
      <dgm:prSet presAssocID="{368D1678-841D-41C3-9D54-E8A78DB34FA5}" presName="root" presStyleCnt="0">
        <dgm:presLayoutVars>
          <dgm:dir/>
          <dgm:resizeHandles val="exact"/>
        </dgm:presLayoutVars>
      </dgm:prSet>
      <dgm:spPr/>
    </dgm:pt>
    <dgm:pt modelId="{E123E06A-4679-462C-890F-3DE94C752BBC}" type="pres">
      <dgm:prSet presAssocID="{77BABC57-DB5E-4B43-A6F2-A65CC5AFA5F6}" presName="compNode" presStyleCnt="0"/>
      <dgm:spPr/>
    </dgm:pt>
    <dgm:pt modelId="{44FC492B-CE08-43CD-A132-539FFA76DA9C}" type="pres">
      <dgm:prSet presAssocID="{77BABC57-DB5E-4B43-A6F2-A65CC5AFA5F6}" presName="bgRect" presStyleLbl="bgShp" presStyleIdx="0" presStyleCnt="3" custLinFactNeighborX="0" custLinFactNeighborY="-4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noFill/>
        <a:ln>
          <a:solidFill>
            <a:schemeClr val="tx1"/>
          </a:solidFill>
        </a:ln>
      </dgm:spPr>
    </dgm:pt>
    <dgm:pt modelId="{62B314F5-F0D0-4905-96C2-7BA81A006685}" type="pres">
      <dgm:prSet presAssocID="{77BABC57-DB5E-4B43-A6F2-A65CC5AFA5F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1B58955-3879-428D-9F4A-FA075D2824E0}" type="pres">
      <dgm:prSet presAssocID="{77BABC57-DB5E-4B43-A6F2-A65CC5AFA5F6}" presName="spaceRect" presStyleCnt="0"/>
      <dgm:spPr/>
    </dgm:pt>
    <dgm:pt modelId="{CAB3631E-761C-4BFA-B804-2E7A3878276A}" type="pres">
      <dgm:prSet presAssocID="{77BABC57-DB5E-4B43-A6F2-A65CC5AFA5F6}" presName="parTx" presStyleLbl="revTx" presStyleIdx="0" presStyleCnt="3">
        <dgm:presLayoutVars>
          <dgm:chMax val="0"/>
          <dgm:chPref val="0"/>
        </dgm:presLayoutVars>
      </dgm:prSet>
      <dgm:spPr/>
    </dgm:pt>
    <dgm:pt modelId="{E9BF4679-1A17-4F6D-A111-05CA7EC0E5DA}" type="pres">
      <dgm:prSet presAssocID="{21D94B67-C159-4700-A548-2D5C3D6D94D2}" presName="sibTrans" presStyleCnt="0"/>
      <dgm:spPr/>
    </dgm:pt>
    <dgm:pt modelId="{ACCAA675-D13A-4063-B439-51FFDBFB8484}" type="pres">
      <dgm:prSet presAssocID="{84DFB0D1-FDF6-4EC0-A0CB-D24B574C0FB8}" presName="compNode" presStyleCnt="0"/>
      <dgm:spPr/>
    </dgm:pt>
    <dgm:pt modelId="{29BFEE2C-3CAB-4D60-A5BA-609503570C59}" type="pres">
      <dgm:prSet presAssocID="{84DFB0D1-FDF6-4EC0-A0CB-D24B574C0FB8}" presName="bgRect" presStyleLbl="bgShp" presStyleIdx="1" presStyleCnt="3" custLinFactNeighborX="89" custLinFactNeighborY="-148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C8257A87-F680-471E-8DEA-515304592194}" type="pres">
      <dgm:prSet presAssocID="{84DFB0D1-FDF6-4EC0-A0CB-D24B574C0F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33390D1-AB09-452F-9CB4-3D10CA844E59}" type="pres">
      <dgm:prSet presAssocID="{84DFB0D1-FDF6-4EC0-A0CB-D24B574C0FB8}" presName="spaceRect" presStyleCnt="0"/>
      <dgm:spPr/>
    </dgm:pt>
    <dgm:pt modelId="{11FC0F87-061E-4764-A01C-1B1AAF4F852E}" type="pres">
      <dgm:prSet presAssocID="{84DFB0D1-FDF6-4EC0-A0CB-D24B574C0FB8}" presName="parTx" presStyleLbl="revTx" presStyleIdx="1" presStyleCnt="3">
        <dgm:presLayoutVars>
          <dgm:chMax val="0"/>
          <dgm:chPref val="0"/>
        </dgm:presLayoutVars>
      </dgm:prSet>
      <dgm:spPr/>
    </dgm:pt>
    <dgm:pt modelId="{57B1CC3C-E406-44CF-B440-53A3B251BB91}" type="pres">
      <dgm:prSet presAssocID="{9D9FB6F8-235D-4A05-82D9-73BD47167BDE}" presName="sibTrans" presStyleCnt="0"/>
      <dgm:spPr/>
    </dgm:pt>
    <dgm:pt modelId="{840542BF-89FE-4DAE-AC26-A6E67F226EDA}" type="pres">
      <dgm:prSet presAssocID="{6FCE53FB-C479-434D-8EB2-9AD4F1265BC2}" presName="compNode" presStyleCnt="0"/>
      <dgm:spPr/>
    </dgm:pt>
    <dgm:pt modelId="{C95A2142-CAE0-4E83-BF8D-29E74ABE35A6}" type="pres">
      <dgm:prSet presAssocID="{6FCE53FB-C479-434D-8EB2-9AD4F1265BC2}" presName="bgRect" presStyleLbl="bgShp" presStyleIdx="2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noFill/>
      </dgm:spPr>
    </dgm:pt>
    <dgm:pt modelId="{A782460B-C584-459A-AD97-49AFDDD1E5B6}" type="pres">
      <dgm:prSet presAssocID="{6FCE53FB-C479-434D-8EB2-9AD4F1265B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F9FC4DF-7E07-46E4-A1F0-509D383FDF74}" type="pres">
      <dgm:prSet presAssocID="{6FCE53FB-C479-434D-8EB2-9AD4F1265BC2}" presName="spaceRect" presStyleCnt="0"/>
      <dgm:spPr/>
    </dgm:pt>
    <dgm:pt modelId="{9668327D-0981-406F-80B5-5A658BBD37BE}" type="pres">
      <dgm:prSet presAssocID="{6FCE53FB-C479-434D-8EB2-9AD4F1265BC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BD2204-4027-4ED3-BE15-1A7775F4482C}" srcId="{368D1678-841D-41C3-9D54-E8A78DB34FA5}" destId="{84DFB0D1-FDF6-4EC0-A0CB-D24B574C0FB8}" srcOrd="1" destOrd="0" parTransId="{3B31980C-E5E4-4A5C-B453-110D4E42812A}" sibTransId="{9D9FB6F8-235D-4A05-82D9-73BD47167BDE}"/>
    <dgm:cxn modelId="{663CAB1C-041A-4DB4-89F3-0CAA2A14C289}" type="presOf" srcId="{6FCE53FB-C479-434D-8EB2-9AD4F1265BC2}" destId="{9668327D-0981-406F-80B5-5A658BBD37BE}" srcOrd="0" destOrd="0" presId="urn:microsoft.com/office/officeart/2018/2/layout/IconVerticalSolidList"/>
    <dgm:cxn modelId="{B076EA7D-A616-4976-90B9-4212F4A8BF37}" srcId="{368D1678-841D-41C3-9D54-E8A78DB34FA5}" destId="{6FCE53FB-C479-434D-8EB2-9AD4F1265BC2}" srcOrd="2" destOrd="0" parTransId="{DAAEAB47-91D4-47D7-B678-C779DE77A10B}" sibTransId="{6B6F7916-2A87-4F11-ACA3-F4DE4DA670CD}"/>
    <dgm:cxn modelId="{F37D3994-B0ED-40E2-AAC7-A65B6EAD69BD}" srcId="{368D1678-841D-41C3-9D54-E8A78DB34FA5}" destId="{77BABC57-DB5E-4B43-A6F2-A65CC5AFA5F6}" srcOrd="0" destOrd="0" parTransId="{0613C3CB-D728-424D-8F99-4CF4261BDFCE}" sibTransId="{21D94B67-C159-4700-A548-2D5C3D6D94D2}"/>
    <dgm:cxn modelId="{12D219DF-E668-4F34-A8BA-1ED71549989D}" type="presOf" srcId="{368D1678-841D-41C3-9D54-E8A78DB34FA5}" destId="{4941D88B-06D8-47FE-9A9F-35CCF65963FB}" srcOrd="0" destOrd="0" presId="urn:microsoft.com/office/officeart/2018/2/layout/IconVerticalSolidList"/>
    <dgm:cxn modelId="{576ECFF1-EAC4-42E9-A426-9B82F15051B2}" type="presOf" srcId="{84DFB0D1-FDF6-4EC0-A0CB-D24B574C0FB8}" destId="{11FC0F87-061E-4764-A01C-1B1AAF4F852E}" srcOrd="0" destOrd="0" presId="urn:microsoft.com/office/officeart/2018/2/layout/IconVerticalSolidList"/>
    <dgm:cxn modelId="{512516F8-3750-47EA-A985-7A5362CF692E}" type="presOf" srcId="{77BABC57-DB5E-4B43-A6F2-A65CC5AFA5F6}" destId="{CAB3631E-761C-4BFA-B804-2E7A3878276A}" srcOrd="0" destOrd="0" presId="urn:microsoft.com/office/officeart/2018/2/layout/IconVerticalSolidList"/>
    <dgm:cxn modelId="{591FBDFC-5AEE-4B37-AC77-859BBB1EEE90}" type="presParOf" srcId="{4941D88B-06D8-47FE-9A9F-35CCF65963FB}" destId="{E123E06A-4679-462C-890F-3DE94C752BBC}" srcOrd="0" destOrd="0" presId="urn:microsoft.com/office/officeart/2018/2/layout/IconVerticalSolidList"/>
    <dgm:cxn modelId="{2CAD112B-4903-411C-871F-B08BD7B6851C}" type="presParOf" srcId="{E123E06A-4679-462C-890F-3DE94C752BBC}" destId="{44FC492B-CE08-43CD-A132-539FFA76DA9C}" srcOrd="0" destOrd="0" presId="urn:microsoft.com/office/officeart/2018/2/layout/IconVerticalSolidList"/>
    <dgm:cxn modelId="{384243BF-6D82-4B38-A35A-A442549D31DD}" type="presParOf" srcId="{E123E06A-4679-462C-890F-3DE94C752BBC}" destId="{62B314F5-F0D0-4905-96C2-7BA81A006685}" srcOrd="1" destOrd="0" presId="urn:microsoft.com/office/officeart/2018/2/layout/IconVerticalSolidList"/>
    <dgm:cxn modelId="{1D0913B0-CD23-42B8-A136-24FC03EF3627}" type="presParOf" srcId="{E123E06A-4679-462C-890F-3DE94C752BBC}" destId="{F1B58955-3879-428D-9F4A-FA075D2824E0}" srcOrd="2" destOrd="0" presId="urn:microsoft.com/office/officeart/2018/2/layout/IconVerticalSolidList"/>
    <dgm:cxn modelId="{BB8E0F55-4378-44CC-9A63-3DFE6EDBA9B5}" type="presParOf" srcId="{E123E06A-4679-462C-890F-3DE94C752BBC}" destId="{CAB3631E-761C-4BFA-B804-2E7A3878276A}" srcOrd="3" destOrd="0" presId="urn:microsoft.com/office/officeart/2018/2/layout/IconVerticalSolidList"/>
    <dgm:cxn modelId="{5E971110-1A80-4B3A-930A-4396B38086BB}" type="presParOf" srcId="{4941D88B-06D8-47FE-9A9F-35CCF65963FB}" destId="{E9BF4679-1A17-4F6D-A111-05CA7EC0E5DA}" srcOrd="1" destOrd="0" presId="urn:microsoft.com/office/officeart/2018/2/layout/IconVerticalSolidList"/>
    <dgm:cxn modelId="{7E9ACDBC-720A-48C0-9B91-E179B78640C8}" type="presParOf" srcId="{4941D88B-06D8-47FE-9A9F-35CCF65963FB}" destId="{ACCAA675-D13A-4063-B439-51FFDBFB8484}" srcOrd="2" destOrd="0" presId="urn:microsoft.com/office/officeart/2018/2/layout/IconVerticalSolidList"/>
    <dgm:cxn modelId="{ED5088A1-02B4-4504-9D90-083ED785CD3F}" type="presParOf" srcId="{ACCAA675-D13A-4063-B439-51FFDBFB8484}" destId="{29BFEE2C-3CAB-4D60-A5BA-609503570C59}" srcOrd="0" destOrd="0" presId="urn:microsoft.com/office/officeart/2018/2/layout/IconVerticalSolidList"/>
    <dgm:cxn modelId="{68BC4AD8-1621-4BA5-A39A-A6DFE9B310C7}" type="presParOf" srcId="{ACCAA675-D13A-4063-B439-51FFDBFB8484}" destId="{C8257A87-F680-471E-8DEA-515304592194}" srcOrd="1" destOrd="0" presId="urn:microsoft.com/office/officeart/2018/2/layout/IconVerticalSolidList"/>
    <dgm:cxn modelId="{D3289EC5-D6BA-49B9-BFCF-EA1FEC55AD6B}" type="presParOf" srcId="{ACCAA675-D13A-4063-B439-51FFDBFB8484}" destId="{A33390D1-AB09-452F-9CB4-3D10CA844E59}" srcOrd="2" destOrd="0" presId="urn:microsoft.com/office/officeart/2018/2/layout/IconVerticalSolidList"/>
    <dgm:cxn modelId="{3E637876-909B-4B1F-ACF1-A36E36467CE8}" type="presParOf" srcId="{ACCAA675-D13A-4063-B439-51FFDBFB8484}" destId="{11FC0F87-061E-4764-A01C-1B1AAF4F852E}" srcOrd="3" destOrd="0" presId="urn:microsoft.com/office/officeart/2018/2/layout/IconVerticalSolidList"/>
    <dgm:cxn modelId="{29E1FFAD-D7D6-4009-9E3C-9DE47443D8CD}" type="presParOf" srcId="{4941D88B-06D8-47FE-9A9F-35CCF65963FB}" destId="{57B1CC3C-E406-44CF-B440-53A3B251BB91}" srcOrd="3" destOrd="0" presId="urn:microsoft.com/office/officeart/2018/2/layout/IconVerticalSolidList"/>
    <dgm:cxn modelId="{72EF662B-631F-40CE-AF9E-217703E86DC7}" type="presParOf" srcId="{4941D88B-06D8-47FE-9A9F-35CCF65963FB}" destId="{840542BF-89FE-4DAE-AC26-A6E67F226EDA}" srcOrd="4" destOrd="0" presId="urn:microsoft.com/office/officeart/2018/2/layout/IconVerticalSolidList"/>
    <dgm:cxn modelId="{F96396E3-1198-4D92-A946-AACECEC7E77D}" type="presParOf" srcId="{840542BF-89FE-4DAE-AC26-A6E67F226EDA}" destId="{C95A2142-CAE0-4E83-BF8D-29E74ABE35A6}" srcOrd="0" destOrd="0" presId="urn:microsoft.com/office/officeart/2018/2/layout/IconVerticalSolidList"/>
    <dgm:cxn modelId="{2482BFA2-C313-4344-A901-1A920F8CE600}" type="presParOf" srcId="{840542BF-89FE-4DAE-AC26-A6E67F226EDA}" destId="{A782460B-C584-459A-AD97-49AFDDD1E5B6}" srcOrd="1" destOrd="0" presId="urn:microsoft.com/office/officeart/2018/2/layout/IconVerticalSolidList"/>
    <dgm:cxn modelId="{F3B0AA3C-EF2D-40D5-89C2-37ED00FB82FB}" type="presParOf" srcId="{840542BF-89FE-4DAE-AC26-A6E67F226EDA}" destId="{1F9FC4DF-7E07-46E4-A1F0-509D383FDF74}" srcOrd="2" destOrd="0" presId="urn:microsoft.com/office/officeart/2018/2/layout/IconVerticalSolidList"/>
    <dgm:cxn modelId="{3A8F591C-A5CD-40C3-BF95-B5A247718FCA}" type="presParOf" srcId="{840542BF-89FE-4DAE-AC26-A6E67F226EDA}" destId="{9668327D-0981-406F-80B5-5A658BBD37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E2B5AF-CD03-4B10-8564-B0653CC536BD}" type="doc">
      <dgm:prSet loTypeId="urn:diagrams.loki3.com/BracketList" loCatId="officeonline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8483168C-C6D1-4BDC-9C5F-90201CCF78A7}">
      <dgm:prSet phldrT="[Text]" phldr="0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Hardware Requirements 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B1E135-4928-4789-AFCB-1425336AB101}" type="parTrans" cxnId="{BAF99D1B-909D-4822-9542-F30E65615A5C}">
      <dgm:prSet/>
      <dgm:spPr/>
      <dgm:t>
        <a:bodyPr/>
        <a:lstStyle/>
        <a:p>
          <a:endParaRPr lang="en-IN"/>
        </a:p>
      </dgm:t>
    </dgm:pt>
    <dgm:pt modelId="{6AEB0E6D-CE77-45FA-846B-8788B423704B}" type="sibTrans" cxnId="{BAF99D1B-909D-4822-9542-F30E65615A5C}">
      <dgm:prSet/>
      <dgm:spPr/>
      <dgm:t>
        <a:bodyPr/>
        <a:lstStyle/>
        <a:p>
          <a:endParaRPr lang="en-IN"/>
        </a:p>
      </dgm:t>
    </dgm:pt>
    <dgm:pt modelId="{B2227FCE-BAC4-4F47-9BC8-5D1EBFC3D8DD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/>
          </a:solidFill>
        </a:ln>
      </dgm:spPr>
      <dgm:t>
        <a:bodyPr/>
        <a:lstStyle/>
        <a:p>
          <a:pPr algn="just"/>
          <a:r>
            <a:rPr lang="en-US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Modern dual-core processor or better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87EE19-B83C-4708-BA7E-919B9F32EDF8}" type="parTrans" cxnId="{2904DD25-CD9C-4F12-BDC3-43E07B73CB11}">
      <dgm:prSet/>
      <dgm:spPr/>
      <dgm:t>
        <a:bodyPr/>
        <a:lstStyle/>
        <a:p>
          <a:endParaRPr lang="en-IN"/>
        </a:p>
      </dgm:t>
    </dgm:pt>
    <dgm:pt modelId="{ABB0349A-55D3-49E5-AE7D-31996D991C9E}" type="sibTrans" cxnId="{2904DD25-CD9C-4F12-BDC3-43E07B73CB11}">
      <dgm:prSet/>
      <dgm:spPr/>
      <dgm:t>
        <a:bodyPr/>
        <a:lstStyle/>
        <a:p>
          <a:endParaRPr lang="en-IN"/>
        </a:p>
      </dgm:t>
    </dgm:pt>
    <dgm:pt modelId="{0D2843AA-1E7A-4062-A2D9-B94017F64611}">
      <dgm:prSet phldrT="[Text]" phldr="0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 Requirements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171D88-2CCE-4AE2-931C-E1CAEF31DBEB}" type="parTrans" cxnId="{C0D7CB0D-6242-4C03-8456-C697C53427FF}">
      <dgm:prSet/>
      <dgm:spPr/>
      <dgm:t>
        <a:bodyPr/>
        <a:lstStyle/>
        <a:p>
          <a:endParaRPr lang="en-IN"/>
        </a:p>
      </dgm:t>
    </dgm:pt>
    <dgm:pt modelId="{CB7A8B71-5C9C-4124-A7CE-7433544C4FB9}" type="sibTrans" cxnId="{C0D7CB0D-6242-4C03-8456-C697C53427FF}">
      <dgm:prSet/>
      <dgm:spPr/>
      <dgm:t>
        <a:bodyPr/>
        <a:lstStyle/>
        <a:p>
          <a:endParaRPr lang="en-IN"/>
        </a:p>
      </dgm:t>
    </dgm:pt>
    <dgm:pt modelId="{0225EFE3-9C08-456D-A922-048D29EDD157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Frontend:</a:t>
          </a:r>
          <a:r>
            <a: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HTML, CSS, JavaScript, PHP</a:t>
          </a:r>
        </a:p>
      </dgm:t>
    </dgm:pt>
    <dgm:pt modelId="{1D0EF229-ABB2-4D5A-B9FB-A751DD063B71}" type="parTrans" cxnId="{84766E60-AB97-4841-8F32-E4E049E0202F}">
      <dgm:prSet/>
      <dgm:spPr/>
      <dgm:t>
        <a:bodyPr/>
        <a:lstStyle/>
        <a:p>
          <a:endParaRPr lang="en-IN"/>
        </a:p>
      </dgm:t>
    </dgm:pt>
    <dgm:pt modelId="{A82DB2FD-48D8-445D-849A-84175A5B385D}" type="sibTrans" cxnId="{84766E60-AB97-4841-8F32-E4E049E0202F}">
      <dgm:prSet/>
      <dgm:spPr/>
      <dgm:t>
        <a:bodyPr/>
        <a:lstStyle/>
        <a:p>
          <a:endParaRPr lang="en-IN"/>
        </a:p>
      </dgm:t>
    </dgm:pt>
    <dgm:pt modelId="{4B397D75-51CF-4F97-8CA4-718A082284CC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/>
          </a:solidFill>
        </a:ln>
      </dgm:spPr>
      <dgm:t>
        <a:bodyPr/>
        <a:lstStyle/>
        <a:p>
          <a:pPr algn="just"/>
          <a:r>
            <a:rPr lang="en-IN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8 GB RAM recommended</a:t>
          </a:r>
          <a:endParaRPr lang="en-GB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301046-8C3F-4A43-A8C4-E9A1619594E6}" type="parTrans" cxnId="{280D6C52-951D-426A-A0CE-FAB3C018744C}">
      <dgm:prSet/>
      <dgm:spPr/>
      <dgm:t>
        <a:bodyPr/>
        <a:lstStyle/>
        <a:p>
          <a:endParaRPr lang="en-IN"/>
        </a:p>
      </dgm:t>
    </dgm:pt>
    <dgm:pt modelId="{CC79EF93-C7B2-4C9D-8127-ED0C20B2FF76}" type="sibTrans" cxnId="{280D6C52-951D-426A-A0CE-FAB3C018744C}">
      <dgm:prSet/>
      <dgm:spPr/>
      <dgm:t>
        <a:bodyPr/>
        <a:lstStyle/>
        <a:p>
          <a:endParaRPr lang="en-IN"/>
        </a:p>
      </dgm:t>
    </dgm:pt>
    <dgm:pt modelId="{AB612A51-F3D8-4308-B3FD-A98575783816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Backend: </a:t>
          </a:r>
          <a:r>
            <a: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Python (</a:t>
          </a:r>
          <a:r>
            <a:rPr lang="en-IN" sz="20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r>
            <a: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GB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38F244-F0F7-4581-B6A8-4E289AE57495}" type="parTrans" cxnId="{B28EFCA3-8C5B-4E79-BFCD-2D8209D20061}">
      <dgm:prSet/>
      <dgm:spPr/>
      <dgm:t>
        <a:bodyPr/>
        <a:lstStyle/>
        <a:p>
          <a:endParaRPr lang="en-IN"/>
        </a:p>
      </dgm:t>
    </dgm:pt>
    <dgm:pt modelId="{5E5F316B-2B44-4C51-B0E8-FED919B3B331}" type="sibTrans" cxnId="{B28EFCA3-8C5B-4E79-BFCD-2D8209D20061}">
      <dgm:prSet/>
      <dgm:spPr/>
      <dgm:t>
        <a:bodyPr/>
        <a:lstStyle/>
        <a:p>
          <a:endParaRPr lang="en-IN"/>
        </a:p>
      </dgm:t>
    </dgm:pt>
    <dgm:pt modelId="{56E0DD79-4022-4769-889E-F9D97935BE46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Database:</a:t>
          </a:r>
          <a:r>
            <a: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MongoDB </a:t>
          </a:r>
          <a:endParaRPr lang="en-GB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4C696F-71AF-4549-937D-F85E0DBD3BAB}" type="parTrans" cxnId="{6AA336BB-73AC-404C-810D-7C5771CA95D4}">
      <dgm:prSet/>
      <dgm:spPr/>
      <dgm:t>
        <a:bodyPr/>
        <a:lstStyle/>
        <a:p>
          <a:endParaRPr lang="en-IN"/>
        </a:p>
      </dgm:t>
    </dgm:pt>
    <dgm:pt modelId="{BB698A77-A35E-486C-B669-DAB92CFAC545}" type="sibTrans" cxnId="{6AA336BB-73AC-404C-810D-7C5771CA95D4}">
      <dgm:prSet/>
      <dgm:spPr/>
      <dgm:t>
        <a:bodyPr/>
        <a:lstStyle/>
        <a:p>
          <a:endParaRPr lang="en-IN"/>
        </a:p>
      </dgm:t>
    </dgm:pt>
    <dgm:pt modelId="{953AA3DC-9DB4-4BFE-97A1-7B610A2D44EE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Tools &amp; Libraries:</a:t>
          </a:r>
          <a:r>
            <a:rPr lang="en-IN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OCR + AI / LLM,</a:t>
          </a:r>
          <a:r>
            <a:rPr lang="en-US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OTP authentication and role-based access.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0009DF-F309-419C-8051-DD008DB65772}" type="parTrans" cxnId="{0970A03B-B541-4AFC-A106-77FF0E73A332}">
      <dgm:prSet/>
      <dgm:spPr/>
      <dgm:t>
        <a:bodyPr/>
        <a:lstStyle/>
        <a:p>
          <a:endParaRPr lang="en-IN"/>
        </a:p>
      </dgm:t>
    </dgm:pt>
    <dgm:pt modelId="{15DA8886-81FB-4CBD-906D-3E772B43C28D}" type="sibTrans" cxnId="{0970A03B-B541-4AFC-A106-77FF0E73A332}">
      <dgm:prSet/>
      <dgm:spPr/>
      <dgm:t>
        <a:bodyPr/>
        <a:lstStyle/>
        <a:p>
          <a:endParaRPr lang="en-IN"/>
        </a:p>
      </dgm:t>
    </dgm:pt>
    <dgm:pt modelId="{5BA24281-7ECD-419F-8BBE-FCBEFB8DD820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endParaRPr lang="en-GB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15FC02-7E27-4672-94C6-02E8568920C0}" type="parTrans" cxnId="{1238FAF5-89B9-4523-86F0-89195B2EA21B}">
      <dgm:prSet/>
      <dgm:spPr/>
      <dgm:t>
        <a:bodyPr/>
        <a:lstStyle/>
        <a:p>
          <a:endParaRPr lang="en-IN"/>
        </a:p>
      </dgm:t>
    </dgm:pt>
    <dgm:pt modelId="{05CB9053-EB04-4416-983C-1BFD077032A0}" type="sibTrans" cxnId="{1238FAF5-89B9-4523-86F0-89195B2EA21B}">
      <dgm:prSet/>
      <dgm:spPr/>
      <dgm:t>
        <a:bodyPr/>
        <a:lstStyle/>
        <a:p>
          <a:endParaRPr lang="en-IN"/>
        </a:p>
      </dgm:t>
    </dgm:pt>
    <dgm:pt modelId="{CD061E1E-F1B7-4D14-AF73-2098DEF3B56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/>
          </a:solidFill>
        </a:ln>
      </dgm:spPr>
      <dgm:t>
        <a:bodyPr/>
        <a:lstStyle/>
        <a:p>
          <a:pPr algn="just"/>
          <a:r>
            <a:rPr lang="en-US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10 GB or more free storage</a:t>
          </a:r>
          <a:endParaRPr lang="en-GB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4A490A-950D-4B96-B739-0A922CCE3517}" type="parTrans" cxnId="{CDEC1B48-BE3B-4FC6-8A3A-CE36C02C7732}">
      <dgm:prSet/>
      <dgm:spPr/>
      <dgm:t>
        <a:bodyPr/>
        <a:lstStyle/>
        <a:p>
          <a:endParaRPr lang="en-IN"/>
        </a:p>
      </dgm:t>
    </dgm:pt>
    <dgm:pt modelId="{7C5F311B-B905-4253-9C78-59F82459B610}" type="sibTrans" cxnId="{CDEC1B48-BE3B-4FC6-8A3A-CE36C02C7732}">
      <dgm:prSet/>
      <dgm:spPr/>
      <dgm:t>
        <a:bodyPr/>
        <a:lstStyle/>
        <a:p>
          <a:endParaRPr lang="en-IN"/>
        </a:p>
      </dgm:t>
    </dgm:pt>
    <dgm:pt modelId="{CD6EE2A7-7A67-4560-A127-9E9299A4C8A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/>
          </a:solidFill>
        </a:ln>
      </dgm:spPr>
      <dgm:t>
        <a:bodyPr/>
        <a:lstStyle/>
        <a:p>
          <a:pPr algn="just"/>
          <a:r>
            <a:rPr lang="en-US" sz="2000" b="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Optional cloud/GPU resources for larger AI workloads</a:t>
          </a:r>
          <a:endParaRPr lang="en-GB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4B0297-48FF-4A2A-953B-EC51E6CEBC04}" type="parTrans" cxnId="{F5E08EFC-5D00-4C4A-8F9B-AA577B426F60}">
      <dgm:prSet/>
      <dgm:spPr/>
      <dgm:t>
        <a:bodyPr/>
        <a:lstStyle/>
        <a:p>
          <a:endParaRPr lang="en-IN"/>
        </a:p>
      </dgm:t>
    </dgm:pt>
    <dgm:pt modelId="{D41FCA49-63C7-4985-B2CD-CD8AD8A98872}" type="sibTrans" cxnId="{F5E08EFC-5D00-4C4A-8F9B-AA577B426F60}">
      <dgm:prSet/>
      <dgm:spPr/>
      <dgm:t>
        <a:bodyPr/>
        <a:lstStyle/>
        <a:p>
          <a:endParaRPr lang="en-IN"/>
        </a:p>
      </dgm:t>
    </dgm:pt>
    <dgm:pt modelId="{056773A5-CBB2-492C-BDCA-C9CAA59F18C0}" type="pres">
      <dgm:prSet presAssocID="{79E2B5AF-CD03-4B10-8564-B0653CC536BD}" presName="Name0" presStyleCnt="0">
        <dgm:presLayoutVars>
          <dgm:dir/>
          <dgm:animLvl val="lvl"/>
          <dgm:resizeHandles val="exact"/>
        </dgm:presLayoutVars>
      </dgm:prSet>
      <dgm:spPr/>
    </dgm:pt>
    <dgm:pt modelId="{9FAC5DBB-9C77-4FA6-8204-003AAA26C3C2}" type="pres">
      <dgm:prSet presAssocID="{8483168C-C6D1-4BDC-9C5F-90201CCF78A7}" presName="linNode" presStyleCnt="0"/>
      <dgm:spPr/>
    </dgm:pt>
    <dgm:pt modelId="{0DB465AA-F07E-4EF3-9D1F-64C0DA7ED9CE}" type="pres">
      <dgm:prSet presAssocID="{8483168C-C6D1-4BDC-9C5F-90201CCF78A7}" presName="parTx" presStyleLbl="revTx" presStyleIdx="0" presStyleCnt="2">
        <dgm:presLayoutVars>
          <dgm:chMax val="1"/>
          <dgm:bulletEnabled val="1"/>
        </dgm:presLayoutVars>
      </dgm:prSet>
      <dgm:spPr/>
    </dgm:pt>
    <dgm:pt modelId="{C51843E1-9B8F-4421-82AA-957A7AEDB204}" type="pres">
      <dgm:prSet presAssocID="{8483168C-C6D1-4BDC-9C5F-90201CCF78A7}" presName="bracket" presStyleLbl="parChTrans1D1" presStyleIdx="0" presStyleCnt="2"/>
      <dgm:spPr/>
    </dgm:pt>
    <dgm:pt modelId="{6F3D2845-DBFB-44D8-B891-A8A629C99D1B}" type="pres">
      <dgm:prSet presAssocID="{8483168C-C6D1-4BDC-9C5F-90201CCF78A7}" presName="spH" presStyleCnt="0"/>
      <dgm:spPr/>
    </dgm:pt>
    <dgm:pt modelId="{F35BD002-DF20-4669-872E-E808E7710080}" type="pres">
      <dgm:prSet presAssocID="{8483168C-C6D1-4BDC-9C5F-90201CCF78A7}" presName="desTx" presStyleLbl="node1" presStyleIdx="0" presStyleCnt="2">
        <dgm:presLayoutVars>
          <dgm:bulletEnabled val="1"/>
        </dgm:presLayoutVars>
      </dgm:prSet>
      <dgm:spPr>
        <a:prstGeom prst="flowChartAlternateProcess">
          <a:avLst/>
        </a:prstGeom>
      </dgm:spPr>
    </dgm:pt>
    <dgm:pt modelId="{18030D31-9754-40C5-8414-4C37A930E7F5}" type="pres">
      <dgm:prSet presAssocID="{6AEB0E6D-CE77-45FA-846B-8788B423704B}" presName="spV" presStyleCnt="0"/>
      <dgm:spPr/>
    </dgm:pt>
    <dgm:pt modelId="{8DF6BE01-3765-4193-9D7C-5A95E9B36F0F}" type="pres">
      <dgm:prSet presAssocID="{0D2843AA-1E7A-4062-A2D9-B94017F64611}" presName="linNode" presStyleCnt="0"/>
      <dgm:spPr/>
    </dgm:pt>
    <dgm:pt modelId="{69D4A446-4CE5-472D-A0C3-EABB16C64E73}" type="pres">
      <dgm:prSet presAssocID="{0D2843AA-1E7A-4062-A2D9-B94017F64611}" presName="parTx" presStyleLbl="revTx" presStyleIdx="1" presStyleCnt="2" custLinFactNeighborX="-24102" custLinFactNeighborY="33884">
        <dgm:presLayoutVars>
          <dgm:chMax val="1"/>
          <dgm:bulletEnabled val="1"/>
        </dgm:presLayoutVars>
      </dgm:prSet>
      <dgm:spPr/>
    </dgm:pt>
    <dgm:pt modelId="{F3F06A30-4A36-4366-B87F-E3D148958893}" type="pres">
      <dgm:prSet presAssocID="{0D2843AA-1E7A-4062-A2D9-B94017F64611}" presName="bracket" presStyleLbl="parChTrans1D1" presStyleIdx="1" presStyleCnt="2" custLinFactNeighborX="-49514" custLinFactNeighborY="16875"/>
      <dgm:spPr/>
    </dgm:pt>
    <dgm:pt modelId="{829CFFE4-C065-4BA5-8D1D-EBB16A982B4C}" type="pres">
      <dgm:prSet presAssocID="{0D2843AA-1E7A-4062-A2D9-B94017F64611}" presName="spH" presStyleCnt="0"/>
      <dgm:spPr/>
    </dgm:pt>
    <dgm:pt modelId="{2E8DA4FB-551C-4B94-B724-DAE9C22976AC}" type="pres">
      <dgm:prSet presAssocID="{0D2843AA-1E7A-4062-A2D9-B94017F64611}" presName="desTx" presStyleLbl="node1" presStyleIdx="1" presStyleCnt="2" custLinFactNeighborX="-24995" custLinFactNeighborY="18619">
        <dgm:presLayoutVars>
          <dgm:bulletEnabled val="1"/>
        </dgm:presLayoutVars>
      </dgm:prSet>
      <dgm:spPr>
        <a:prstGeom prst="flowChartAlternateProcess">
          <a:avLst/>
        </a:prstGeom>
      </dgm:spPr>
    </dgm:pt>
  </dgm:ptLst>
  <dgm:cxnLst>
    <dgm:cxn modelId="{1F9DD40B-64A5-4AA5-89A1-EA6979DB6245}" type="presOf" srcId="{5BA24281-7ECD-419F-8BBE-FCBEFB8DD820}" destId="{2E8DA4FB-551C-4B94-B724-DAE9C22976AC}" srcOrd="0" destOrd="4" presId="urn:diagrams.loki3.com/BracketList"/>
    <dgm:cxn modelId="{C0D7CB0D-6242-4C03-8456-C697C53427FF}" srcId="{79E2B5AF-CD03-4B10-8564-B0653CC536BD}" destId="{0D2843AA-1E7A-4062-A2D9-B94017F64611}" srcOrd="1" destOrd="0" parTransId="{C1171D88-2CCE-4AE2-931C-E1CAEF31DBEB}" sibTransId="{CB7A8B71-5C9C-4124-A7CE-7433544C4FB9}"/>
    <dgm:cxn modelId="{BAF99D1B-909D-4822-9542-F30E65615A5C}" srcId="{79E2B5AF-CD03-4B10-8564-B0653CC536BD}" destId="{8483168C-C6D1-4BDC-9C5F-90201CCF78A7}" srcOrd="0" destOrd="0" parTransId="{BAB1E135-4928-4789-AFCB-1425336AB101}" sibTransId="{6AEB0E6D-CE77-45FA-846B-8788B423704B}"/>
    <dgm:cxn modelId="{EEF3B31C-DFE9-4C25-BB81-EC41F9B32687}" type="presOf" srcId="{CD061E1E-F1B7-4D14-AF73-2098DEF3B566}" destId="{F35BD002-DF20-4669-872E-E808E7710080}" srcOrd="0" destOrd="2" presId="urn:diagrams.loki3.com/BracketList"/>
    <dgm:cxn modelId="{2904DD25-CD9C-4F12-BDC3-43E07B73CB11}" srcId="{8483168C-C6D1-4BDC-9C5F-90201CCF78A7}" destId="{B2227FCE-BAC4-4F47-9BC8-5D1EBFC3D8DD}" srcOrd="0" destOrd="0" parTransId="{C787EE19-B83C-4708-BA7E-919B9F32EDF8}" sibTransId="{ABB0349A-55D3-49E5-AE7D-31996D991C9E}"/>
    <dgm:cxn modelId="{818DCF2A-CC6C-46E8-9D26-EDB148F0743B}" type="presOf" srcId="{953AA3DC-9DB4-4BFE-97A1-7B610A2D44EE}" destId="{2E8DA4FB-551C-4B94-B724-DAE9C22976AC}" srcOrd="0" destOrd="3" presId="urn:diagrams.loki3.com/BracketList"/>
    <dgm:cxn modelId="{0970A03B-B541-4AFC-A106-77FF0E73A332}" srcId="{0D2843AA-1E7A-4062-A2D9-B94017F64611}" destId="{953AA3DC-9DB4-4BFE-97A1-7B610A2D44EE}" srcOrd="3" destOrd="0" parTransId="{2D0009DF-F309-419C-8051-DD008DB65772}" sibTransId="{15DA8886-81FB-4CBD-906D-3E772B43C28D}"/>
    <dgm:cxn modelId="{84766E60-AB97-4841-8F32-E4E049E0202F}" srcId="{0D2843AA-1E7A-4062-A2D9-B94017F64611}" destId="{0225EFE3-9C08-456D-A922-048D29EDD157}" srcOrd="0" destOrd="0" parTransId="{1D0EF229-ABB2-4D5A-B9FB-A751DD063B71}" sibTransId="{A82DB2FD-48D8-445D-849A-84175A5B385D}"/>
    <dgm:cxn modelId="{58BDF665-CF9F-4ADB-A19B-05CB97D365D1}" type="presOf" srcId="{B2227FCE-BAC4-4F47-9BC8-5D1EBFC3D8DD}" destId="{F35BD002-DF20-4669-872E-E808E7710080}" srcOrd="0" destOrd="0" presId="urn:diagrams.loki3.com/BracketList"/>
    <dgm:cxn modelId="{CDEC1B48-BE3B-4FC6-8A3A-CE36C02C7732}" srcId="{8483168C-C6D1-4BDC-9C5F-90201CCF78A7}" destId="{CD061E1E-F1B7-4D14-AF73-2098DEF3B566}" srcOrd="2" destOrd="0" parTransId="{0B4A490A-950D-4B96-B739-0A922CCE3517}" sibTransId="{7C5F311B-B905-4253-9C78-59F82459B610}"/>
    <dgm:cxn modelId="{280D6C52-951D-426A-A0CE-FAB3C018744C}" srcId="{8483168C-C6D1-4BDC-9C5F-90201CCF78A7}" destId="{4B397D75-51CF-4F97-8CA4-718A082284CC}" srcOrd="1" destOrd="0" parTransId="{F8301046-8C3F-4A43-A8C4-E9A1619594E6}" sibTransId="{CC79EF93-C7B2-4C9D-8127-ED0C20B2FF76}"/>
    <dgm:cxn modelId="{F55CF372-399E-404B-B77D-A236C5DC9DAB}" type="presOf" srcId="{56E0DD79-4022-4769-889E-F9D97935BE46}" destId="{2E8DA4FB-551C-4B94-B724-DAE9C22976AC}" srcOrd="0" destOrd="2" presId="urn:diagrams.loki3.com/BracketList"/>
    <dgm:cxn modelId="{760FBE78-9FBF-4734-8E2C-F234D9020F46}" type="presOf" srcId="{4B397D75-51CF-4F97-8CA4-718A082284CC}" destId="{F35BD002-DF20-4669-872E-E808E7710080}" srcOrd="0" destOrd="1" presId="urn:diagrams.loki3.com/BracketList"/>
    <dgm:cxn modelId="{D346B887-36EF-48B3-97D5-BE19BBC1F209}" type="presOf" srcId="{0D2843AA-1E7A-4062-A2D9-B94017F64611}" destId="{69D4A446-4CE5-472D-A0C3-EABB16C64E73}" srcOrd="0" destOrd="0" presId="urn:diagrams.loki3.com/BracketList"/>
    <dgm:cxn modelId="{CE56BE90-37AD-426A-A08E-E40010A5250C}" type="presOf" srcId="{0225EFE3-9C08-456D-A922-048D29EDD157}" destId="{2E8DA4FB-551C-4B94-B724-DAE9C22976AC}" srcOrd="0" destOrd="0" presId="urn:diagrams.loki3.com/BracketList"/>
    <dgm:cxn modelId="{42DA029E-6696-4103-B9C8-F2E0401ED364}" type="presOf" srcId="{8483168C-C6D1-4BDC-9C5F-90201CCF78A7}" destId="{0DB465AA-F07E-4EF3-9D1F-64C0DA7ED9CE}" srcOrd="0" destOrd="0" presId="urn:diagrams.loki3.com/BracketList"/>
    <dgm:cxn modelId="{B5C138A0-31CF-4C4A-8A5B-805CA4A341A3}" type="presOf" srcId="{AB612A51-F3D8-4308-B3FD-A98575783816}" destId="{2E8DA4FB-551C-4B94-B724-DAE9C22976AC}" srcOrd="0" destOrd="1" presId="urn:diagrams.loki3.com/BracketList"/>
    <dgm:cxn modelId="{B28EFCA3-8C5B-4E79-BFCD-2D8209D20061}" srcId="{0D2843AA-1E7A-4062-A2D9-B94017F64611}" destId="{AB612A51-F3D8-4308-B3FD-A98575783816}" srcOrd="1" destOrd="0" parTransId="{C038F244-F0F7-4581-B6A8-4E289AE57495}" sibTransId="{5E5F316B-2B44-4C51-B0E8-FED919B3B331}"/>
    <dgm:cxn modelId="{6AA336BB-73AC-404C-810D-7C5771CA95D4}" srcId="{0D2843AA-1E7A-4062-A2D9-B94017F64611}" destId="{56E0DD79-4022-4769-889E-F9D97935BE46}" srcOrd="2" destOrd="0" parTransId="{964C696F-71AF-4549-937D-F85E0DBD3BAB}" sibTransId="{BB698A77-A35E-486C-B669-DAB92CFAC545}"/>
    <dgm:cxn modelId="{846B6DC5-2C77-4B2B-BAE8-CA4B0616EF83}" type="presOf" srcId="{79E2B5AF-CD03-4B10-8564-B0653CC536BD}" destId="{056773A5-CBB2-492C-BDCA-C9CAA59F18C0}" srcOrd="0" destOrd="0" presId="urn:diagrams.loki3.com/BracketList"/>
    <dgm:cxn modelId="{28F80ED8-D59E-4852-841B-EA8843F1254C}" type="presOf" srcId="{CD6EE2A7-7A67-4560-A127-9E9299A4C8A6}" destId="{F35BD002-DF20-4669-872E-E808E7710080}" srcOrd="0" destOrd="3" presId="urn:diagrams.loki3.com/BracketList"/>
    <dgm:cxn modelId="{1238FAF5-89B9-4523-86F0-89195B2EA21B}" srcId="{0D2843AA-1E7A-4062-A2D9-B94017F64611}" destId="{5BA24281-7ECD-419F-8BBE-FCBEFB8DD820}" srcOrd="4" destOrd="0" parTransId="{2815FC02-7E27-4672-94C6-02E8568920C0}" sibTransId="{05CB9053-EB04-4416-983C-1BFD077032A0}"/>
    <dgm:cxn modelId="{F5E08EFC-5D00-4C4A-8F9B-AA577B426F60}" srcId="{8483168C-C6D1-4BDC-9C5F-90201CCF78A7}" destId="{CD6EE2A7-7A67-4560-A127-9E9299A4C8A6}" srcOrd="3" destOrd="0" parTransId="{004B0297-48FF-4A2A-953B-EC51E6CEBC04}" sibTransId="{D41FCA49-63C7-4985-B2CD-CD8AD8A98872}"/>
    <dgm:cxn modelId="{8A1E566D-F236-473A-98FB-15427C08624F}" type="presParOf" srcId="{056773A5-CBB2-492C-BDCA-C9CAA59F18C0}" destId="{9FAC5DBB-9C77-4FA6-8204-003AAA26C3C2}" srcOrd="0" destOrd="0" presId="urn:diagrams.loki3.com/BracketList"/>
    <dgm:cxn modelId="{B9B9CFAB-CC26-4E74-AEF6-531D83C3875E}" type="presParOf" srcId="{9FAC5DBB-9C77-4FA6-8204-003AAA26C3C2}" destId="{0DB465AA-F07E-4EF3-9D1F-64C0DA7ED9CE}" srcOrd="0" destOrd="0" presId="urn:diagrams.loki3.com/BracketList"/>
    <dgm:cxn modelId="{B2EEB714-8538-42AD-8EA3-ADB237798FD9}" type="presParOf" srcId="{9FAC5DBB-9C77-4FA6-8204-003AAA26C3C2}" destId="{C51843E1-9B8F-4421-82AA-957A7AEDB204}" srcOrd="1" destOrd="0" presId="urn:diagrams.loki3.com/BracketList"/>
    <dgm:cxn modelId="{9A6CAA73-1410-4C3C-9764-9B089D093012}" type="presParOf" srcId="{9FAC5DBB-9C77-4FA6-8204-003AAA26C3C2}" destId="{6F3D2845-DBFB-44D8-B891-A8A629C99D1B}" srcOrd="2" destOrd="0" presId="urn:diagrams.loki3.com/BracketList"/>
    <dgm:cxn modelId="{E73493AC-8C08-4C9A-9710-EB52BAC1D876}" type="presParOf" srcId="{9FAC5DBB-9C77-4FA6-8204-003AAA26C3C2}" destId="{F35BD002-DF20-4669-872E-E808E7710080}" srcOrd="3" destOrd="0" presId="urn:diagrams.loki3.com/BracketList"/>
    <dgm:cxn modelId="{46A4D4D2-42F0-4ED0-B82D-E4932B858481}" type="presParOf" srcId="{056773A5-CBB2-492C-BDCA-C9CAA59F18C0}" destId="{18030D31-9754-40C5-8414-4C37A930E7F5}" srcOrd="1" destOrd="0" presId="urn:diagrams.loki3.com/BracketList"/>
    <dgm:cxn modelId="{7BB7E0B8-612F-4C67-98C4-AF05C6A468B4}" type="presParOf" srcId="{056773A5-CBB2-492C-BDCA-C9CAA59F18C0}" destId="{8DF6BE01-3765-4193-9D7C-5A95E9B36F0F}" srcOrd="2" destOrd="0" presId="urn:diagrams.loki3.com/BracketList"/>
    <dgm:cxn modelId="{D35C02AC-80DF-4683-8A75-35645BF69FE3}" type="presParOf" srcId="{8DF6BE01-3765-4193-9D7C-5A95E9B36F0F}" destId="{69D4A446-4CE5-472D-A0C3-EABB16C64E73}" srcOrd="0" destOrd="0" presId="urn:diagrams.loki3.com/BracketList"/>
    <dgm:cxn modelId="{15C585A7-633A-4B61-B143-F57CFC8FB7A9}" type="presParOf" srcId="{8DF6BE01-3765-4193-9D7C-5A95E9B36F0F}" destId="{F3F06A30-4A36-4366-B87F-E3D148958893}" srcOrd="1" destOrd="0" presId="urn:diagrams.loki3.com/BracketList"/>
    <dgm:cxn modelId="{BE984885-68B2-4E9A-96F4-4440B49382EE}" type="presParOf" srcId="{8DF6BE01-3765-4193-9D7C-5A95E9B36F0F}" destId="{829CFFE4-C065-4BA5-8D1D-EBB16A982B4C}" srcOrd="2" destOrd="0" presId="urn:diagrams.loki3.com/BracketList"/>
    <dgm:cxn modelId="{82B36719-7DA2-4CB1-A4AE-A3339481BC47}" type="presParOf" srcId="{8DF6BE01-3765-4193-9D7C-5A95E9B36F0F}" destId="{2E8DA4FB-551C-4B94-B724-DAE9C22976AC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C492B-CE08-43CD-A132-539FFA76DA9C}">
      <dsp:nvSpPr>
        <dsp:cNvPr id="0" name=""/>
        <dsp:cNvSpPr/>
      </dsp:nvSpPr>
      <dsp:spPr>
        <a:xfrm>
          <a:off x="0" y="0"/>
          <a:ext cx="8153399" cy="1197136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2B314F5-F0D0-4905-96C2-7BA81A006685}">
      <dsp:nvSpPr>
        <dsp:cNvPr id="0" name=""/>
        <dsp:cNvSpPr/>
      </dsp:nvSpPr>
      <dsp:spPr>
        <a:xfrm>
          <a:off x="362133" y="269867"/>
          <a:ext cx="658425" cy="658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3631E-761C-4BFA-B804-2E7A3878276A}">
      <dsp:nvSpPr>
        <dsp:cNvPr id="0" name=""/>
        <dsp:cNvSpPr/>
      </dsp:nvSpPr>
      <dsp:spPr>
        <a:xfrm>
          <a:off x="1382692" y="511"/>
          <a:ext cx="6770706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 secure and user-friendly system for property document verification.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1382692" y="511"/>
        <a:ext cx="6770706" cy="1197136"/>
      </dsp:txXfrm>
    </dsp:sp>
    <dsp:sp modelId="{29BFEE2C-3CAB-4D60-A5BA-609503570C59}">
      <dsp:nvSpPr>
        <dsp:cNvPr id="0" name=""/>
        <dsp:cNvSpPr/>
      </dsp:nvSpPr>
      <dsp:spPr>
        <a:xfrm>
          <a:off x="0" y="1479178"/>
          <a:ext cx="8153399" cy="1197136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C8257A87-F680-471E-8DEA-515304592194}">
      <dsp:nvSpPr>
        <dsp:cNvPr id="0" name=""/>
        <dsp:cNvSpPr/>
      </dsp:nvSpPr>
      <dsp:spPr>
        <a:xfrm>
          <a:off x="362133" y="1766287"/>
          <a:ext cx="658425" cy="658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C0F87-061E-4764-A01C-1B1AAF4F852E}">
      <dsp:nvSpPr>
        <dsp:cNvPr id="0" name=""/>
        <dsp:cNvSpPr/>
      </dsp:nvSpPr>
      <dsp:spPr>
        <a:xfrm>
          <a:off x="1382692" y="1496932"/>
          <a:ext cx="6770706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develop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 AI-based document analysis and cross-verification system to identify mismatches, missing information, and potential risks.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1382692" y="1496932"/>
        <a:ext cx="6770706" cy="1197136"/>
      </dsp:txXfrm>
    </dsp:sp>
    <dsp:sp modelId="{C95A2142-CAE0-4E83-BF8D-29E74ABE35A6}">
      <dsp:nvSpPr>
        <dsp:cNvPr id="0" name=""/>
        <dsp:cNvSpPr/>
      </dsp:nvSpPr>
      <dsp:spPr>
        <a:xfrm>
          <a:off x="0" y="2993352"/>
          <a:ext cx="8153399" cy="1197136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A782460B-C584-459A-AD97-49AFDDD1E5B6}">
      <dsp:nvSpPr>
        <dsp:cNvPr id="0" name=""/>
        <dsp:cNvSpPr/>
      </dsp:nvSpPr>
      <dsp:spPr>
        <a:xfrm>
          <a:off x="362133" y="3262708"/>
          <a:ext cx="658425" cy="658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8327D-0981-406F-80B5-5A658BBD37BE}">
      <dsp:nvSpPr>
        <dsp:cNvPr id="0" name=""/>
        <dsp:cNvSpPr/>
      </dsp:nvSpPr>
      <dsp:spPr>
        <a:xfrm>
          <a:off x="1382692" y="2993352"/>
          <a:ext cx="6770706" cy="1197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97" tIns="126697" rIns="126697" bIns="12669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implement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automated risk detection and verification report generation for faster and more reliable property verification.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82692" y="2993352"/>
        <a:ext cx="6770706" cy="1197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465AA-F07E-4EF3-9D1F-64C0DA7ED9CE}">
      <dsp:nvSpPr>
        <dsp:cNvPr id="0" name=""/>
        <dsp:cNvSpPr/>
      </dsp:nvSpPr>
      <dsp:spPr>
        <a:xfrm>
          <a:off x="0" y="1033780"/>
          <a:ext cx="192405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Hardware Requirements 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033780"/>
        <a:ext cx="1924050" cy="1287000"/>
      </dsp:txXfrm>
    </dsp:sp>
    <dsp:sp modelId="{C51843E1-9B8F-4421-82AA-957A7AEDB204}">
      <dsp:nvSpPr>
        <dsp:cNvPr id="0" name=""/>
        <dsp:cNvSpPr/>
      </dsp:nvSpPr>
      <dsp:spPr>
        <a:xfrm>
          <a:off x="1924049" y="772358"/>
          <a:ext cx="384810" cy="1809843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BD002-DF20-4669-872E-E808E7710080}">
      <dsp:nvSpPr>
        <dsp:cNvPr id="0" name=""/>
        <dsp:cNvSpPr/>
      </dsp:nvSpPr>
      <dsp:spPr>
        <a:xfrm>
          <a:off x="2462783" y="772358"/>
          <a:ext cx="5233416" cy="1809843"/>
        </a:xfrm>
        <a:prstGeom prst="flowChartAlternateProcess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Modern dual-core processor or better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8 GB RAM recommended</a:t>
          </a:r>
          <a:endParaRPr lang="en-GB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10 GB or more free storage</a:t>
          </a:r>
          <a:endParaRPr lang="en-GB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Optional cloud/GPU resources for larger AI workloads</a:t>
          </a:r>
          <a:endParaRPr lang="en-GB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51130" y="860705"/>
        <a:ext cx="5056722" cy="1633149"/>
      </dsp:txXfrm>
    </dsp:sp>
    <dsp:sp modelId="{69D4A446-4CE5-472D-A0C3-EABB16C64E73}">
      <dsp:nvSpPr>
        <dsp:cNvPr id="0" name=""/>
        <dsp:cNvSpPr/>
      </dsp:nvSpPr>
      <dsp:spPr>
        <a:xfrm>
          <a:off x="0" y="3694695"/>
          <a:ext cx="1924050" cy="128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50800" rIns="142240" bIns="508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Software Requirements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94695"/>
        <a:ext cx="1924050" cy="1287000"/>
      </dsp:txXfrm>
    </dsp:sp>
    <dsp:sp modelId="{F3F06A30-4A36-4366-B87F-E3D148958893}">
      <dsp:nvSpPr>
        <dsp:cNvPr id="0" name=""/>
        <dsp:cNvSpPr/>
      </dsp:nvSpPr>
      <dsp:spPr>
        <a:xfrm>
          <a:off x="1847836" y="3182695"/>
          <a:ext cx="384810" cy="2171812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DA4FB-551C-4B94-B724-DAE9C22976AC}">
      <dsp:nvSpPr>
        <dsp:cNvPr id="0" name=""/>
        <dsp:cNvSpPr/>
      </dsp:nvSpPr>
      <dsp:spPr>
        <a:xfrm>
          <a:off x="2424310" y="3220571"/>
          <a:ext cx="5233416" cy="2171812"/>
        </a:xfrm>
        <a:prstGeom prst="flowChartAlternateProcess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Frontend:</a:t>
          </a:r>
          <a:r>
            <a:rPr lang="en-I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HTML, CSS, JavaScript, PHP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Backend: </a:t>
          </a:r>
          <a:r>
            <a:rPr lang="en-I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Python (</a:t>
          </a:r>
          <a:r>
            <a:rPr lang="en-IN" sz="20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FastAPI</a:t>
          </a:r>
          <a:r>
            <a:rPr lang="en-I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GB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Database:</a:t>
          </a:r>
          <a:r>
            <a:rPr lang="en-I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MongoDB </a:t>
          </a:r>
          <a:endParaRPr lang="en-GB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Tools &amp; Libraries:</a:t>
          </a:r>
          <a:r>
            <a:rPr lang="en-IN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OCR + AI / LLM,</a:t>
          </a:r>
          <a:r>
            <a:rPr lang="en-US" sz="2000" b="0" kern="1200" dirty="0">
              <a:solidFill>
                <a:srgbClr val="232323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OTP authentication and role-based access.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30327" y="3326588"/>
        <a:ext cx="5021382" cy="1959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F0505-52A6-45EA-B9BB-1CC360B07382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04DEA-EF1B-4797-B2FA-4B5CDC65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43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04DEA-EF1B-4797-B2FA-4B5CDC6557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109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00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17/06/relationships/model3d" Target="../media/model3d2.glb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17/06/relationships/model3d" Target="../media/model3d2.glb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17/06/relationships/model3d" Target="../media/model3d2.glb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17/06/relationships/model3d" Target="../media/model3d1.glb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22.png"/><Relationship Id="rId5" Type="http://schemas.openxmlformats.org/officeDocument/2006/relationships/diagramColors" Target="../diagrams/colors1.xml"/><Relationship Id="rId10" Type="http://schemas.microsoft.com/office/2017/06/relationships/model3d" Target="../media/model3d2.glb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microsoft.com/office/2017/06/relationships/model3d" Target="../media/model3d2.glb"/><Relationship Id="rId5" Type="http://schemas.openxmlformats.org/officeDocument/2006/relationships/diagramLayout" Target="../diagrams/layout2.xml"/><Relationship Id="rId10" Type="http://schemas.openxmlformats.org/officeDocument/2006/relationships/image" Target="../media/image23.png"/><Relationship Id="rId4" Type="http://schemas.openxmlformats.org/officeDocument/2006/relationships/diagramData" Target="../diagrams/data2.xml"/><Relationship Id="rId9" Type="http://schemas.microsoft.com/office/2017/06/relationships/model3d" Target="../media/model3d1.glb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17/06/relationships/model3d" Target="../media/model3d2.glb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microsoft.com/office/2017/06/relationships/model3d" Target="../media/model3d2.glb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17/06/relationships/model3d" Target="../media/model3d2.glb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9800" y="5299456"/>
            <a:ext cx="2514600" cy="1143000"/>
          </a:xfrm>
        </p:spPr>
        <p:txBody>
          <a:bodyPr>
            <a:noAutofit/>
          </a:bodyPr>
          <a:lstStyle/>
          <a:p>
            <a:pPr marL="36000">
              <a:spcBef>
                <a:spcPts val="0"/>
              </a:spcBef>
            </a:pPr>
            <a:r>
              <a:rPr lang="en-IN" sz="1500" b="1" dirty="0">
                <a:solidFill>
                  <a:schemeClr val="tx1"/>
                </a:solidFill>
              </a:rPr>
              <a:t>        Program Coordinator.</a:t>
            </a:r>
            <a:endParaRPr lang="en-US" sz="1500" b="1" dirty="0">
              <a:solidFill>
                <a:schemeClr val="tx1"/>
              </a:solidFill>
            </a:endParaRPr>
          </a:p>
          <a:p>
            <a:pPr marL="36000">
              <a:spcBef>
                <a:spcPts val="0"/>
              </a:spcBef>
            </a:pPr>
            <a:r>
              <a:rPr lang="en-US" sz="1500" b="1" dirty="0">
                <a:solidFill>
                  <a:schemeClr val="tx2"/>
                </a:solidFill>
              </a:rPr>
              <a:t>Mrs. Nayana K</a:t>
            </a:r>
          </a:p>
          <a:p>
            <a:pPr marL="36000">
              <a:spcBef>
                <a:spcPts val="0"/>
              </a:spcBef>
            </a:pPr>
            <a:r>
              <a:rPr lang="en-US" sz="1500" b="1" dirty="0">
                <a:solidFill>
                  <a:schemeClr val="tx1"/>
                </a:solidFill>
              </a:rPr>
              <a:t>Associate Professor &amp;HOD Dept. of CY &amp; IY</a:t>
            </a:r>
          </a:p>
          <a:p>
            <a:pPr algn="l"/>
            <a:r>
              <a:rPr lang="en-US" sz="1500" b="1" dirty="0">
                <a:solidFill>
                  <a:schemeClr val="tx1"/>
                </a:solidFill>
              </a:rPr>
              <a:t>                        </a:t>
            </a:r>
            <a:endParaRPr lang="en-IN" sz="15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rgbClr val="984807"/>
          </a:solidFill>
          <a:ln w="9525">
            <a:solidFill>
              <a:srgbClr val="4A7EBB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   </a:t>
            </a:r>
            <a:r>
              <a:rPr lang="en-US" sz="1400" b="1" dirty="0"/>
              <a:t>Sri Syala Educational Trust (R), Bheemasamudra</a:t>
            </a:r>
            <a:br>
              <a:rPr lang="en-US" sz="1000" dirty="0"/>
            </a:br>
            <a:r>
              <a:rPr lang="en-US" sz="3200" b="1" dirty="0">
                <a:solidFill>
                  <a:srgbClr val="FFFF00"/>
                </a:solidFill>
              </a:rPr>
              <a:t>G M UNIVERSITY, DAVANGERE</a:t>
            </a:r>
            <a:br>
              <a:rPr lang="en-US" sz="1000" dirty="0"/>
            </a:br>
            <a:r>
              <a:rPr lang="en-US" sz="1000" dirty="0"/>
              <a:t>         </a:t>
            </a:r>
            <a:r>
              <a:rPr lang="en-US" sz="1600" dirty="0">
                <a:solidFill>
                  <a:srgbClr val="00B0F0"/>
                </a:solidFill>
              </a:rPr>
              <a:t>School of Computer Science T Technology (SCST)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sz="1600" b="1" dirty="0">
                <a:solidFill>
                  <a:schemeClr val="bg1"/>
                </a:solidFill>
              </a:rPr>
              <a:t>DEPARTMENT OF CS-CYBER SECURITY &amp; CS-INFORMATION SECURITY</a:t>
            </a:r>
            <a:r>
              <a:rPr lang="en-US" sz="1600" b="1" dirty="0"/>
              <a:t> </a:t>
            </a: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2" descr="C:\Users\Administrator.ARUNKUMARBT\Downloads\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46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1"/>
          <p:cNvSpPr txBox="1">
            <a:spLocks/>
          </p:cNvSpPr>
          <p:nvPr/>
        </p:nvSpPr>
        <p:spPr bwMode="auto">
          <a:xfrm>
            <a:off x="782131" y="2206870"/>
            <a:ext cx="767130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buNone/>
            </a:pPr>
            <a:r>
              <a:rPr lang="en-GB" sz="2600" b="1" dirty="0">
                <a:solidFill>
                  <a:srgbClr val="7030A0"/>
                </a:solidFill>
                <a:cs typeface="Arial" pitchFamily="34" charset="0"/>
                <a:sym typeface="Arial" pitchFamily="34" charset="0"/>
              </a:rPr>
              <a:t>“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AI-Driven Property Security &amp; Verification System</a:t>
            </a:r>
            <a:r>
              <a:rPr lang="en-GB" sz="2600" b="1" dirty="0">
                <a:solidFill>
                  <a:srgbClr val="7030A0"/>
                </a:solidFill>
                <a:cs typeface="Arial" pitchFamily="34" charset="0"/>
                <a:sym typeface="Arial" pitchFamily="34" charset="0"/>
              </a:rPr>
              <a:t>”</a:t>
            </a:r>
            <a:endParaRPr lang="en-US" sz="2600" b="1" dirty="0">
              <a:solidFill>
                <a:schemeClr val="tx2"/>
              </a:solidFill>
            </a:endParaRPr>
          </a:p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itchFamily="34" charset="0"/>
              <a:buNone/>
            </a:pPr>
            <a:endParaRPr lang="en-GB" altLang="en-US" sz="1600" b="1" dirty="0">
              <a:solidFill>
                <a:srgbClr val="7030A0"/>
              </a:solidFill>
              <a:cs typeface="Arial" pitchFamily="34" charset="0"/>
              <a:sym typeface="Arial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AC744AF-2454-4EB9-F565-A9C687AAB0C2}"/>
              </a:ext>
            </a:extLst>
          </p:cNvPr>
          <p:cNvSpPr txBox="1">
            <a:spLocks/>
          </p:cNvSpPr>
          <p:nvPr/>
        </p:nvSpPr>
        <p:spPr>
          <a:xfrm>
            <a:off x="762000" y="5299456"/>
            <a:ext cx="25146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>
              <a:spcBef>
                <a:spcPts val="0"/>
              </a:spcBef>
            </a:pPr>
            <a:r>
              <a:rPr lang="en-IN" sz="1500" b="1" dirty="0">
                <a:solidFill>
                  <a:schemeClr val="tx1"/>
                </a:solidFill>
              </a:rPr>
              <a:t>          Under Guidance of:</a:t>
            </a:r>
            <a:endParaRPr lang="en-US" sz="1500" b="1" dirty="0">
              <a:solidFill>
                <a:schemeClr val="tx1"/>
              </a:solidFill>
            </a:endParaRPr>
          </a:p>
          <a:p>
            <a:pPr marL="144000">
              <a:spcBef>
                <a:spcPts val="0"/>
              </a:spcBef>
            </a:pPr>
            <a:r>
              <a:rPr lang="en-US" sz="1500" b="1" dirty="0">
                <a:solidFill>
                  <a:srgbClr val="002060"/>
                </a:solidFill>
              </a:rPr>
              <a:t>               </a:t>
            </a:r>
            <a:r>
              <a:rPr lang="en-US" sz="1500" b="1" dirty="0">
                <a:solidFill>
                  <a:schemeClr val="tx2"/>
                </a:solidFill>
              </a:rPr>
              <a:t>Dr. Rachana P G</a:t>
            </a:r>
          </a:p>
          <a:p>
            <a:pPr marL="108000">
              <a:spcBef>
                <a:spcPts val="0"/>
              </a:spcBef>
            </a:pPr>
            <a:r>
              <a:rPr lang="en-US" sz="1500" b="1" dirty="0">
                <a:solidFill>
                  <a:schemeClr val="tx1"/>
                </a:solidFill>
              </a:rPr>
              <a:t>             Assistant Professor,</a:t>
            </a:r>
          </a:p>
          <a:p>
            <a:pPr marL="144000">
              <a:spcBef>
                <a:spcPts val="0"/>
              </a:spcBef>
            </a:pPr>
            <a:r>
              <a:rPr lang="en-US" sz="1500" b="1" dirty="0">
                <a:solidFill>
                  <a:schemeClr val="tx1"/>
                </a:solidFill>
              </a:rPr>
              <a:t>                Dept. of CY &amp; IY</a:t>
            </a:r>
          </a:p>
          <a:p>
            <a:r>
              <a:rPr lang="en-US" sz="1500" b="1" dirty="0">
                <a:solidFill>
                  <a:schemeClr val="tx1"/>
                </a:solidFill>
              </a:rPr>
              <a:t>                        </a:t>
            </a:r>
            <a:endParaRPr lang="en-IN" sz="1500" b="1" dirty="0">
              <a:solidFill>
                <a:schemeClr val="tx1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C5EA649-5031-4F5C-3E9B-D8B180BCAF64}"/>
              </a:ext>
            </a:extLst>
          </p:cNvPr>
          <p:cNvSpPr txBox="1">
            <a:spLocks/>
          </p:cNvSpPr>
          <p:nvPr/>
        </p:nvSpPr>
        <p:spPr bwMode="auto">
          <a:xfrm>
            <a:off x="609600" y="1579883"/>
            <a:ext cx="73056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itchFamily="34" charset="0"/>
              <a:buNone/>
            </a:pPr>
            <a:r>
              <a:rPr lang="en-GB" altLang="en-US" sz="1600" b="1" dirty="0">
                <a:solidFill>
                  <a:srgbClr val="00B050"/>
                </a:solidFill>
                <a:cs typeface="Arial" pitchFamily="34" charset="0"/>
                <a:sym typeface="Arial" pitchFamily="34" charset="0"/>
              </a:rPr>
              <a:t>A Project Synopsis Presentation 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68ACEA-502E-859B-4B2D-E9F3ABB74C42}"/>
              </a:ext>
            </a:extLst>
          </p:cNvPr>
          <p:cNvSpPr txBox="1">
            <a:spLocks/>
          </p:cNvSpPr>
          <p:nvPr/>
        </p:nvSpPr>
        <p:spPr>
          <a:xfrm>
            <a:off x="3002537" y="5299456"/>
            <a:ext cx="2864865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spcBef>
                <a:spcPts val="0"/>
              </a:spcBef>
            </a:pPr>
            <a:r>
              <a:rPr lang="en-IN" sz="1500" b="1" dirty="0">
                <a:solidFill>
                  <a:schemeClr val="tx1"/>
                </a:solidFill>
              </a:rPr>
              <a:t>             Project Coordinator:</a:t>
            </a:r>
            <a:endParaRPr lang="en-US" sz="1500" b="1" dirty="0">
              <a:solidFill>
                <a:schemeClr val="tx1"/>
              </a:solidFill>
            </a:endParaRPr>
          </a:p>
          <a:p>
            <a:pPr marL="36000">
              <a:spcBef>
                <a:spcPts val="0"/>
              </a:spcBef>
            </a:pPr>
            <a:r>
              <a:rPr lang="en-US" sz="1500" b="1" dirty="0">
                <a:solidFill>
                  <a:schemeClr val="tx1"/>
                </a:solidFill>
              </a:rPr>
              <a:t>             </a:t>
            </a:r>
            <a:r>
              <a:rPr lang="en-US" sz="1500" b="1" dirty="0">
                <a:solidFill>
                  <a:schemeClr val="tx2"/>
                </a:solidFill>
              </a:rPr>
              <a:t>Mr. Nandan </a:t>
            </a:r>
            <a:r>
              <a:rPr lang="en-US" sz="1500" b="1" dirty="0" err="1">
                <a:solidFill>
                  <a:schemeClr val="tx2"/>
                </a:solidFill>
              </a:rPr>
              <a:t>Kurdekar</a:t>
            </a:r>
            <a:endParaRPr lang="en-US" sz="1500" b="1" dirty="0">
              <a:solidFill>
                <a:schemeClr val="tx2"/>
              </a:solidFill>
            </a:endParaRPr>
          </a:p>
          <a:p>
            <a:pPr marL="36000">
              <a:spcBef>
                <a:spcPts val="0"/>
              </a:spcBef>
            </a:pPr>
            <a:r>
              <a:rPr lang="en-US" sz="1500" b="1" dirty="0">
                <a:solidFill>
                  <a:schemeClr val="tx2"/>
                </a:solidFill>
              </a:rPr>
              <a:t>              </a:t>
            </a:r>
            <a:r>
              <a:rPr lang="en-US" sz="1500" b="1" dirty="0">
                <a:solidFill>
                  <a:schemeClr val="tx1"/>
                </a:solidFill>
              </a:rPr>
              <a:t>Assistant Professor,</a:t>
            </a:r>
          </a:p>
          <a:p>
            <a:pPr marL="36000">
              <a:spcBef>
                <a:spcPts val="0"/>
              </a:spcBef>
            </a:pPr>
            <a:r>
              <a:rPr lang="en-US" sz="1500" b="1" dirty="0">
                <a:solidFill>
                  <a:schemeClr val="tx1"/>
                </a:solidFill>
              </a:rPr>
              <a:t>              Dept. of CY &amp; IY</a:t>
            </a:r>
          </a:p>
          <a:p>
            <a:pPr algn="l"/>
            <a:r>
              <a:rPr lang="en-US" sz="1500" dirty="0">
                <a:solidFill>
                  <a:schemeClr val="tx1"/>
                </a:solidFill>
              </a:rPr>
              <a:t>                        </a:t>
            </a:r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1DD6D1B-9DD5-2451-1680-6BDB264EB2AC}"/>
              </a:ext>
            </a:extLst>
          </p:cNvPr>
          <p:cNvSpPr txBox="1">
            <a:spLocks/>
          </p:cNvSpPr>
          <p:nvPr/>
        </p:nvSpPr>
        <p:spPr bwMode="auto">
          <a:xfrm>
            <a:off x="690561" y="2890518"/>
            <a:ext cx="7305675" cy="481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itchFamily="34" charset="0"/>
              <a:buNone/>
            </a:pPr>
            <a:r>
              <a:rPr lang="en-GB" altLang="en-US" sz="1600" b="1" dirty="0">
                <a:solidFill>
                  <a:srgbClr val="FFC000"/>
                </a:solidFill>
                <a:cs typeface="Arial" pitchFamily="34" charset="0"/>
                <a:sym typeface="Arial" pitchFamily="34" charset="0"/>
              </a:rPr>
              <a:t>Presented By: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B447B-F398-99EC-D2C3-EFA377E1C244}"/>
              </a:ext>
            </a:extLst>
          </p:cNvPr>
          <p:cNvSpPr txBox="1"/>
          <p:nvPr/>
        </p:nvSpPr>
        <p:spPr>
          <a:xfrm>
            <a:off x="2850137" y="3429000"/>
            <a:ext cx="34744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Nikhil Suthar             U24E01IY043  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Kulkarni Atharva      U24E01IY036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Ujjwal Kumar           U24E01IY076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Naveen N D                U24E01IY040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203" y="1536666"/>
            <a:ext cx="6987940" cy="717900"/>
          </a:xfrm>
        </p:spPr>
        <p:txBody>
          <a:bodyPr>
            <a:normAutofit fontScale="90000"/>
          </a:bodyPr>
          <a:lstStyle/>
          <a:p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endParaRPr lang="en-GB" sz="1500" b="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411682" y="3178400"/>
            <a:ext cx="1703438" cy="307777"/>
          </a:xfrm>
        </p:spPr>
        <p:txBody>
          <a:bodyPr>
            <a:normAutofit fontScale="92500" lnSpcReduction="10000"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3641" y="2281430"/>
            <a:ext cx="454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solidFill>
                  <a:srgbClr val="002060"/>
                </a:solidFill>
              </a:rPr>
              <a:t>Dr. Rachana P G</a:t>
            </a:r>
            <a:endParaRPr lang="en-IN" b="1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7548" y="5271015"/>
            <a:ext cx="448907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Naveen N D                                           Kulkarni Atharva </a:t>
            </a:r>
          </a:p>
          <a:p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5275085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Ujjwal Kumar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348" y="5353110"/>
            <a:ext cx="2456122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                                            Nikhil Suthar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0C0B27-809A-4672-2FD9-D04A4D7ACDCE}"/>
              </a:ext>
            </a:extLst>
          </p:cNvPr>
          <p:cNvSpPr/>
          <p:nvPr/>
        </p:nvSpPr>
        <p:spPr>
          <a:xfrm>
            <a:off x="3892556" y="1125774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" y="6725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402" y="8249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2" y="9773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2" y="11297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2" y="12821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62002" y="14345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14402" y="158698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25" name="Picture 24" descr="A person with a mustache wearing a white shirt&#10;&#10;AI-generated content may be incorrect.">
            <a:extLst>
              <a:ext uri="{FF2B5EF4-FFF2-40B4-BE49-F238E27FC236}">
                <a16:creationId xmlns:a16="http://schemas.microsoft.com/office/drawing/2014/main" id="{9580D11B-C3F1-0959-2084-3A5B3134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461" y="3803614"/>
            <a:ext cx="1363847" cy="13862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551C9409-0E1C-E221-C85F-59CB45BB9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230" y="3799170"/>
            <a:ext cx="1363847" cy="13485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D46AA3D-BE35-3D5A-3B73-AB9DA50F9901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6298C8C3-2FB2-A023-FF14-DE730BF07FDC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31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1F26483F-E5E1-06BE-F85D-3AD8BB86C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503B0D1-2EF5-34A2-42F9-46C6256348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533401"/>
            <a:ext cx="1600200" cy="161407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277A3C-E4DE-794F-EE81-8B0784BE62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33" y="3784296"/>
            <a:ext cx="1433028" cy="13938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E1AADB-2BCA-982B-72F3-9E8FDD8D4F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12" y="3741155"/>
            <a:ext cx="1433027" cy="14486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29" y="113507"/>
            <a:ext cx="73152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638"/>
            <a:ext cx="784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Review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Statement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Objectives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Software and Hardware Requirements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Flowchart / Methodology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Expected Outcome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  <a:endParaRPr lang="en-IN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C222C8F-D8A6-E128-1540-E891A764F88A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EE387758-76BC-6C9A-5EE5-15513B0BD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hape 9">
            <a:extLst>
              <a:ext uri="{FF2B5EF4-FFF2-40B4-BE49-F238E27FC236}">
                <a16:creationId xmlns:a16="http://schemas.microsoft.com/office/drawing/2014/main" id="{765A909F-463B-FD18-56F8-C09FFB1E8BE4}"/>
              </a:ext>
            </a:extLst>
          </p:cNvPr>
          <p:cNvSpPr/>
          <p:nvPr/>
        </p:nvSpPr>
        <p:spPr>
          <a:xfrm>
            <a:off x="838200" y="462914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3A3E8-F885-FF84-AF2D-0CD42A6CB296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Model 14" descr="Octahedron">
                <a:extLst>
                  <a:ext uri="{FF2B5EF4-FFF2-40B4-BE49-F238E27FC236}">
                    <a16:creationId xmlns:a16="http://schemas.microsoft.com/office/drawing/2014/main" id="{D3BC5B5A-EADA-614F-E1D7-C30EB114B6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7560936"/>
                  </p:ext>
                </p:extLst>
              </p:nvPr>
            </p:nvGraphicFramePr>
            <p:xfrm rot="4608744">
              <a:off x="7267418" y="5451829"/>
              <a:ext cx="985156" cy="966212"/>
            </p:xfrm>
            <a:graphic>
              <a:graphicData uri="http://schemas.microsoft.com/office/drawing/2017/model3d">
                <am3d:model3d r:embed="rId3">
                  <am3d:spPr>
                    <a:xfrm rot="4608744">
                      <a:off x="0" y="0"/>
                      <a:ext cx="985156" cy="966212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-4898183" ay="-230201" az="146824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0507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Model 14" descr="Octahedron">
                <a:extLst>
                  <a:ext uri="{FF2B5EF4-FFF2-40B4-BE49-F238E27FC236}">
                    <a16:creationId xmlns:a16="http://schemas.microsoft.com/office/drawing/2014/main" id="{D3BC5B5A-EADA-614F-E1D7-C30EB114B6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4608744">
                <a:off x="7267418" y="5451829"/>
                <a:ext cx="985156" cy="966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Model 17" descr="Tetragonal Pyramid Red">
                <a:extLst>
                  <a:ext uri="{FF2B5EF4-FFF2-40B4-BE49-F238E27FC236}">
                    <a16:creationId xmlns:a16="http://schemas.microsoft.com/office/drawing/2014/main" id="{ED33A8F8-37B0-1700-9E26-3355071F90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366987"/>
                  </p:ext>
                </p:extLst>
              </p:nvPr>
            </p:nvGraphicFramePr>
            <p:xfrm>
              <a:off x="901767" y="541280"/>
              <a:ext cx="323397" cy="323397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3397" cy="323397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811057" ay="133167" az="972798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07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Model 17" descr="Tetragonal Pyramid Red">
                <a:extLst>
                  <a:ext uri="{FF2B5EF4-FFF2-40B4-BE49-F238E27FC236}">
                    <a16:creationId xmlns:a16="http://schemas.microsoft.com/office/drawing/2014/main" id="{ED33A8F8-37B0-1700-9E26-3355071F90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1767" y="541280"/>
                <a:ext cx="323397" cy="32339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01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298" y="1609071"/>
            <a:ext cx="8153400" cy="3686176"/>
          </a:xfrm>
        </p:spPr>
        <p:txBody>
          <a:bodyPr>
            <a:norm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verification is a multi-stakeholder process involving buyers, sellers, builders/developers, property agents, lawyers, banks/NBFCs, and government authorities.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checking multiple legal and ownership documents such as sale deeds, RTC/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Pahani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mutation records, encumbrance certificates,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tax receipts.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verification involves manual document checking and cross-referencing, making the process time-consuming and susceptible to missed inconsistencies.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compare, and cross-verify property documents to identify inconsistencies, missing information, and potential risks more efficiently.</a:t>
            </a:r>
          </a:p>
          <a:p>
            <a:endParaRPr lang="en-US" sz="200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46F7F70-0EC0-8F84-23AB-F30BDFB210B4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D0EBE476-CAA8-B413-7F78-76B7393B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hape 9">
            <a:extLst>
              <a:ext uri="{FF2B5EF4-FFF2-40B4-BE49-F238E27FC236}">
                <a16:creationId xmlns:a16="http://schemas.microsoft.com/office/drawing/2014/main" id="{102EBE64-153A-FB04-9825-E0FA85BC5FCE}"/>
              </a:ext>
            </a:extLst>
          </p:cNvPr>
          <p:cNvSpPr/>
          <p:nvPr/>
        </p:nvSpPr>
        <p:spPr>
          <a:xfrm>
            <a:off x="855818" y="349965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A3BBA9-CFB4-D0E1-DC1F-50138E99A187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 descr="Octahedron">
                <a:extLst>
                  <a:ext uri="{FF2B5EF4-FFF2-40B4-BE49-F238E27FC236}">
                    <a16:creationId xmlns:a16="http://schemas.microsoft.com/office/drawing/2014/main" id="{9DCB8F12-5807-45FB-6718-DF64C7B4FF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8591565"/>
                  </p:ext>
                </p:extLst>
              </p:nvPr>
            </p:nvGraphicFramePr>
            <p:xfrm rot="3909315">
              <a:off x="7286362" y="5461301"/>
              <a:ext cx="947266" cy="947266"/>
            </p:xfrm>
            <a:graphic>
              <a:graphicData uri="http://schemas.microsoft.com/office/drawing/2017/model3d">
                <am3d:model3d r:embed="rId3">
                  <am3d:spPr>
                    <a:xfrm rot="3909315">
                      <a:off x="0" y="0"/>
                      <a:ext cx="947266" cy="947266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5699905" ay="-605538" az="-699148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0508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 descr="Octahedron">
                <a:extLst>
                  <a:ext uri="{FF2B5EF4-FFF2-40B4-BE49-F238E27FC236}">
                    <a16:creationId xmlns:a16="http://schemas.microsoft.com/office/drawing/2014/main" id="{9DCB8F12-5807-45FB-6718-DF64C7B4FF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909315">
                <a:off x="7286362" y="5461301"/>
                <a:ext cx="947266" cy="947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Tetragonal Pyramid Red">
                <a:extLst>
                  <a:ext uri="{FF2B5EF4-FFF2-40B4-BE49-F238E27FC236}">
                    <a16:creationId xmlns:a16="http://schemas.microsoft.com/office/drawing/2014/main" id="{6DD73C53-4B98-41C4-7A4A-4CB546C490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857788"/>
                  </p:ext>
                </p:extLst>
              </p:nvPr>
            </p:nvGraphicFramePr>
            <p:xfrm>
              <a:off x="919385" y="390675"/>
              <a:ext cx="323397" cy="42168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3397" cy="421685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98224" ay="3340667" az="-1088356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07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Tetragonal Pyramid Red">
                <a:extLst>
                  <a:ext uri="{FF2B5EF4-FFF2-40B4-BE49-F238E27FC236}">
                    <a16:creationId xmlns:a16="http://schemas.microsoft.com/office/drawing/2014/main" id="{6DD73C53-4B98-41C4-7A4A-4CB546C490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9385" y="390675"/>
                <a:ext cx="323397" cy="42168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9">
            <a:extLst>
              <a:ext uri="{FF2B5EF4-FFF2-40B4-BE49-F238E27FC236}">
                <a16:creationId xmlns:a16="http://schemas.microsoft.com/office/drawing/2014/main" id="{74253605-67FF-8528-6CE5-A8BC657CED13}"/>
              </a:ext>
            </a:extLst>
          </p:cNvPr>
          <p:cNvSpPr/>
          <p:nvPr/>
        </p:nvSpPr>
        <p:spPr>
          <a:xfrm>
            <a:off x="691075" y="253757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998" y="281781"/>
            <a:ext cx="5024439" cy="655638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3200" b="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b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B10FC99-1B9C-811E-7CA9-7F30380CA9FB}"/>
              </a:ext>
            </a:extLst>
          </p:cNvPr>
          <p:cNvSpPr/>
          <p:nvPr/>
        </p:nvSpPr>
        <p:spPr>
          <a:xfrm rot="10800000">
            <a:off x="7315199" y="0"/>
            <a:ext cx="1828799" cy="1371600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65DC9AF3-C0A4-9780-8914-DDBB9AD6A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8293652" y="1"/>
            <a:ext cx="850347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2FDF21-4C37-2CC3-5EEF-D28B36088305}"/>
              </a:ext>
            </a:extLst>
          </p:cNvPr>
          <p:cNvSpPr/>
          <p:nvPr/>
        </p:nvSpPr>
        <p:spPr>
          <a:xfrm rot="5400000">
            <a:off x="-3462102" y="3311525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Tetragonal Pyramid Red">
                <a:extLst>
                  <a:ext uri="{FF2B5EF4-FFF2-40B4-BE49-F238E27FC236}">
                    <a16:creationId xmlns:a16="http://schemas.microsoft.com/office/drawing/2014/main" id="{C1CAF29F-D47E-9369-BF01-0368DABA7D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3866793"/>
                  </p:ext>
                </p:extLst>
              </p:nvPr>
            </p:nvGraphicFramePr>
            <p:xfrm>
              <a:off x="755134" y="317800"/>
              <a:ext cx="323396" cy="3233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3396" cy="323396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90897" ay="579727" az="700859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Tetragonal Pyramid Red">
                <a:extLst>
                  <a:ext uri="{FF2B5EF4-FFF2-40B4-BE49-F238E27FC236}">
                    <a16:creationId xmlns:a16="http://schemas.microsoft.com/office/drawing/2014/main" id="{C1CAF29F-D47E-9369-BF01-0368DABA7D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5134" y="317800"/>
                <a:ext cx="323396" cy="32339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A4ACFBD6-BD73-4761-76A2-F230AE5AB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139270"/>
              </p:ext>
            </p:extLst>
          </p:nvPr>
        </p:nvGraphicFramePr>
        <p:xfrm>
          <a:off x="228600" y="1371601"/>
          <a:ext cx="8763000" cy="5333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3239115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69831495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76932653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6869210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651622826"/>
                    </a:ext>
                  </a:extLst>
                </a:gridCol>
              </a:tblGrid>
              <a:tr h="384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/ Study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Adopted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3336195056"/>
                  </a:ext>
                </a:extLst>
              </a:tr>
              <a:tr h="54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for Real Estate Provenance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Abualhamayl</a:t>
                      </a: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Blockchain, Smart Contracts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3589160213"/>
                  </a:ext>
                </a:extLst>
              </a:tr>
              <a:tr h="1044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Land Record Digitization &amp; Validation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Mrs. Nayana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OCR, NLP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3714633636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Mapping the Bounds for Integration of Blockchain Titles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Galloway et al.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Blockchain, Land Administration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2110907871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Data Matching for Blockchain-Supported Real Estate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Lin, Dias &amp; Correia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OCR, NLP, Blockchain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3398285092"/>
                  </a:ext>
                </a:extLst>
              </a:tr>
              <a:tr h="879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AI-Blockchain Framework for Secure Land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R. Nagaraja &amp; R. Shushma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OCR, NER, AI, Blockchain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4176330165"/>
                  </a:ext>
                </a:extLst>
              </a:tr>
              <a:tr h="714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 Guru: Digital Framework for Property Data Governance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Sumaira A. Shaikh et al.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46659" marR="46659" marT="23330" marB="233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GIS, Digital Property Records</a:t>
                      </a:r>
                    </a:p>
                  </a:txBody>
                  <a:tcPr marL="46659" marR="46659" marT="23330" marB="23330" anchor="ctr"/>
                </a:tc>
                <a:extLst>
                  <a:ext uri="{0D108BD9-81ED-4DB2-BD59-A6C34878D82A}">
                    <a16:rowId xmlns:a16="http://schemas.microsoft.com/office/drawing/2014/main" val="257558331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26630" y="1754981"/>
            <a:ext cx="3228023" cy="3228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pic>
        <p:nvPicPr>
          <p:cNvPr id="4" name="Image 0" descr="https://kimi-img.moonshot.cn/pub/slides/slides_tmpl/image/25-08-27-20:03:31-d2nf84p8bjvh7rlj09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72" y="2572047"/>
            <a:ext cx="3254217" cy="3564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001" y="3869055"/>
            <a:ext cx="4156234" cy="2760345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6" name="Text 3"/>
          <p:cNvSpPr/>
          <p:nvPr/>
        </p:nvSpPr>
        <p:spPr>
          <a:xfrm>
            <a:off x="534353" y="3869055"/>
            <a:ext cx="4002881" cy="1804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 flipV="1">
            <a:off x="381001" y="1159667"/>
            <a:ext cx="4105037" cy="2575559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  <p:txBody>
          <a:bodyPr/>
          <a:lstStyle/>
          <a:p>
            <a:endParaRPr lang="en-IN" sz="1350" dirty="0"/>
          </a:p>
        </p:txBody>
      </p:sp>
      <p:sp>
        <p:nvSpPr>
          <p:cNvPr id="8" name="Shape 5"/>
          <p:cNvSpPr/>
          <p:nvPr/>
        </p:nvSpPr>
        <p:spPr>
          <a:xfrm flipH="1">
            <a:off x="4630578" y="3869055"/>
            <a:ext cx="4156232" cy="2760345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9" name="Text 6"/>
          <p:cNvSpPr/>
          <p:nvPr/>
        </p:nvSpPr>
        <p:spPr>
          <a:xfrm>
            <a:off x="4630579" y="3869055"/>
            <a:ext cx="4002881" cy="1804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4588188" y="1158503"/>
            <a:ext cx="4231139" cy="257672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  <p:txBody>
          <a:bodyPr/>
          <a:lstStyle/>
          <a:p>
            <a:endParaRPr lang="en-IN" sz="1350" dirty="0"/>
          </a:p>
        </p:txBody>
      </p:sp>
      <p:sp>
        <p:nvSpPr>
          <p:cNvPr id="11" name="Text 8"/>
          <p:cNvSpPr/>
          <p:nvPr/>
        </p:nvSpPr>
        <p:spPr>
          <a:xfrm>
            <a:off x="4630579" y="1931194"/>
            <a:ext cx="4002881" cy="1804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3376" y="240935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13" name="Text 10"/>
          <p:cNvSpPr/>
          <p:nvPr/>
        </p:nvSpPr>
        <p:spPr>
          <a:xfrm>
            <a:off x="534829" y="1159669"/>
            <a:ext cx="450533" cy="45148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20000"/>
              </a:lnSpc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5108" y="154390"/>
            <a:ext cx="7890510" cy="54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Idea and Approach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16584" y="4027309"/>
            <a:ext cx="545546" cy="27608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20027" y="3843396"/>
            <a:ext cx="357412" cy="4600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020026" y="3417263"/>
            <a:ext cx="296558" cy="61004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16584" y="3641904"/>
            <a:ext cx="545546" cy="582181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81562" y="3277076"/>
            <a:ext cx="346698" cy="47457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52730" y="3417263"/>
            <a:ext cx="584972" cy="61004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0277" y="1273996"/>
            <a:ext cx="3679549" cy="2069797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Problem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endParaRPr lang="en-US" sz="2000" b="1" dirty="0">
              <a:latin typeface="Times New Roman" panose="02020603050405020304" pitchFamily="18" charset="0"/>
              <a:ea typeface="MiSans" pitchFamily="34" charset="-122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inefficiencies and risks of manual property verification by enabling automated analysis and cross-verification of property documents.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ea typeface="MiSans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60083" y="2336959"/>
            <a:ext cx="3456146" cy="289951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0277" y="3987641"/>
            <a:ext cx="3688575" cy="2346796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Design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integrates a user-friendly frontend,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securebackend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database,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OCR/document processing , AI-based verification,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role-based access control to provide automated and secure property verification.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60083" y="4278630"/>
            <a:ext cx="3456146" cy="289951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39233" y="1184910"/>
            <a:ext cx="3557735" cy="1792798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r>
              <a:rPr lang="en-US" sz="2000" b="1" dirty="0"/>
              <a:t>              AI-Based Evaluation</a:t>
            </a:r>
          </a:p>
          <a:p>
            <a:endParaRPr lang="en-US" sz="2000" b="1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 documents, extracts key details, and cross-verifies them to detect inconsistencies and potential risks.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26355" y="2336959"/>
            <a:ext cx="3348514" cy="289951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877692" y="3967005"/>
            <a:ext cx="4332428" cy="684803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</a:p>
          <a:p>
            <a:endParaRPr lang="en-US" sz="2000" b="1" dirty="0"/>
          </a:p>
        </p:txBody>
      </p:sp>
      <p:sp>
        <p:nvSpPr>
          <p:cNvPr id="36" name="Text 33"/>
          <p:cNvSpPr/>
          <p:nvPr/>
        </p:nvSpPr>
        <p:spPr>
          <a:xfrm>
            <a:off x="5126355" y="4278630"/>
            <a:ext cx="3348514" cy="289951"/>
          </a:xfrm>
          <a:prstGeom prst="rect">
            <a:avLst/>
          </a:prstGeom>
          <a:noFill/>
          <a:ln/>
        </p:spPr>
        <p:txBody>
          <a:bodyPr wrap="square" lIns="34290" tIns="34290" rIns="34290" bIns="34290" rtlCol="0" anchor="t">
            <a:spAutoFit/>
          </a:bodyPr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A77F8AB0-B68A-4640-277A-2574C671C5E8}"/>
              </a:ext>
            </a:extLst>
          </p:cNvPr>
          <p:cNvSpPr/>
          <p:nvPr/>
        </p:nvSpPr>
        <p:spPr>
          <a:xfrm rot="10800000">
            <a:off x="7326629" y="-7938"/>
            <a:ext cx="1817370" cy="1619092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38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1E2DD16-77AD-552B-1E9B-CCA6AA038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8305800" y="1"/>
            <a:ext cx="838200" cy="75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Image 0" descr="https://kimi-img.moonshot.cn/pub/slides/slides_tmpl/image/25-08-27-20:03:33-d2nf8598bjvh7rlj09d0.png">
            <a:extLst>
              <a:ext uri="{FF2B5EF4-FFF2-40B4-BE49-F238E27FC236}">
                <a16:creationId xmlns:a16="http://schemas.microsoft.com/office/drawing/2014/main" id="{A38D5E49-92D4-B17B-DADE-6689A8738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3774530" y="3101972"/>
            <a:ext cx="1534160" cy="153416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 descr="Tetragonal Pyramid Red">
                <a:extLst>
                  <a:ext uri="{FF2B5EF4-FFF2-40B4-BE49-F238E27FC236}">
                    <a16:creationId xmlns:a16="http://schemas.microsoft.com/office/drawing/2014/main" id="{74CA8872-C3E0-0AEC-3A18-B3F5CF02FF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3956274"/>
                  </p:ext>
                </p:extLst>
              </p:nvPr>
            </p:nvGraphicFramePr>
            <p:xfrm>
              <a:off x="755133" y="251218"/>
              <a:ext cx="323397" cy="456559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23397" cy="456559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467705" ay="-1793044" az="-1063405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 descr="Tetragonal Pyramid Red">
                <a:extLst>
                  <a:ext uri="{FF2B5EF4-FFF2-40B4-BE49-F238E27FC236}">
                    <a16:creationId xmlns:a16="http://schemas.microsoft.com/office/drawing/2014/main" id="{74CA8872-C3E0-0AEC-3A18-B3F5CF02FFE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5133" y="251218"/>
                <a:ext cx="323397" cy="456559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36A02A1B-D564-5A1D-B558-B7354D0382AD}"/>
              </a:ext>
            </a:extLst>
          </p:cNvPr>
          <p:cNvSpPr/>
          <p:nvPr/>
        </p:nvSpPr>
        <p:spPr>
          <a:xfrm rot="5400000">
            <a:off x="-3462102" y="3311525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3FE0C1-7D00-E520-C54E-CB90D2FE3B9C}"/>
              </a:ext>
            </a:extLst>
          </p:cNvPr>
          <p:cNvSpPr txBox="1"/>
          <p:nvPr/>
        </p:nvSpPr>
        <p:spPr>
          <a:xfrm>
            <a:off x="5027629" y="4630189"/>
            <a:ext cx="3768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with government-record integration, advanced fraud detection, blockchain-based document verification, multilingual support, and mobile application support</a:t>
            </a:r>
            <a:r>
              <a:rPr lang="en-IN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6602F0AA-728C-D0CE-115D-0DBF5B174D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354609"/>
              </p:ext>
            </p:extLst>
          </p:nvPr>
        </p:nvGraphicFramePr>
        <p:xfrm>
          <a:off x="685801" y="1828799"/>
          <a:ext cx="8153399" cy="4191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33EFAB-4754-BE67-1CA6-C2443EF5CC7F}"/>
              </a:ext>
            </a:extLst>
          </p:cNvPr>
          <p:cNvSpPr txBox="1"/>
          <p:nvPr/>
        </p:nvSpPr>
        <p:spPr>
          <a:xfrm>
            <a:off x="2971800" y="398622"/>
            <a:ext cx="30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57A38DB-3A9A-1712-FBF3-0296D6BD539D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65A4E9DA-EB5C-BC74-D747-2D2CD3C63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hape 9">
            <a:extLst>
              <a:ext uri="{FF2B5EF4-FFF2-40B4-BE49-F238E27FC236}">
                <a16:creationId xmlns:a16="http://schemas.microsoft.com/office/drawing/2014/main" id="{2323062C-F4DB-4826-7CC9-2BC23C6F9A6F}"/>
              </a:ext>
            </a:extLst>
          </p:cNvPr>
          <p:cNvSpPr/>
          <p:nvPr/>
        </p:nvSpPr>
        <p:spPr>
          <a:xfrm>
            <a:off x="921327" y="518057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58970-A38D-E8CF-46C9-1A6BD6C2C862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Octahedron">
                <a:extLst>
                  <a:ext uri="{FF2B5EF4-FFF2-40B4-BE49-F238E27FC236}">
                    <a16:creationId xmlns:a16="http://schemas.microsoft.com/office/drawing/2014/main" id="{70BA5234-F89B-C117-259C-57A1407734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4590980"/>
                  </p:ext>
                </p:extLst>
              </p:nvPr>
            </p:nvGraphicFramePr>
            <p:xfrm rot="4608744">
              <a:off x="8032146" y="5808986"/>
              <a:ext cx="1004097" cy="1023042"/>
            </p:xfrm>
            <a:graphic>
              <a:graphicData uri="http://schemas.microsoft.com/office/drawing/2017/model3d">
                <am3d:model3d r:embed="rId8">
                  <am3d:spPr>
                    <a:xfrm rot="4608744">
                      <a:off x="0" y="0"/>
                      <a:ext cx="1004097" cy="1023042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-5297956" ay="17028" az="10231840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7050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Octahedron">
                <a:extLst>
                  <a:ext uri="{FF2B5EF4-FFF2-40B4-BE49-F238E27FC236}">
                    <a16:creationId xmlns:a16="http://schemas.microsoft.com/office/drawing/2014/main" id="{70BA5234-F89B-C117-259C-57A1407734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4608744">
                <a:off x="8032146" y="5808986"/>
                <a:ext cx="1004097" cy="10230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DDE8ACAD-B11B-290A-EDEB-8678E17FB4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8614921"/>
                  </p:ext>
                </p:extLst>
              </p:nvPr>
            </p:nvGraphicFramePr>
            <p:xfrm>
              <a:off x="965871" y="593228"/>
              <a:ext cx="361443" cy="342420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361443" cy="34242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533054" ay="211970" az="10187276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DDE8ACAD-B11B-290A-EDEB-8678E17FB4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5871" y="593228"/>
                <a:ext cx="361443" cy="3424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29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D50DCCD5-9880-F13F-C729-D49E44E83E68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B18B3A3-CF35-CDBD-AFDB-E5FABC1F1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AF1ADD-DEBE-934E-490F-C7E07D4F5563}"/>
              </a:ext>
            </a:extLst>
          </p:cNvPr>
          <p:cNvSpPr txBox="1">
            <a:spLocks/>
          </p:cNvSpPr>
          <p:nvPr/>
        </p:nvSpPr>
        <p:spPr>
          <a:xfrm>
            <a:off x="762000" y="3733799"/>
            <a:ext cx="7467600" cy="1882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A33F3D2C-BD1B-BE38-6A3D-B95254F93DE2}"/>
              </a:ext>
            </a:extLst>
          </p:cNvPr>
          <p:cNvSpPr/>
          <p:nvPr/>
        </p:nvSpPr>
        <p:spPr>
          <a:xfrm>
            <a:off x="762000" y="564227"/>
            <a:ext cx="450533" cy="451485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3692DCE-96BD-DA9E-EED5-0BDF56D18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6915914"/>
              </p:ext>
            </p:extLst>
          </p:nvPr>
        </p:nvGraphicFramePr>
        <p:xfrm>
          <a:off x="685800" y="853612"/>
          <a:ext cx="7696200" cy="5760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648BEA4-3461-DCA6-7A23-10EE87DEAE8D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Octahedron">
                <a:extLst>
                  <a:ext uri="{FF2B5EF4-FFF2-40B4-BE49-F238E27FC236}">
                    <a16:creationId xmlns:a16="http://schemas.microsoft.com/office/drawing/2014/main" id="{9C058F66-02D4-1973-6D86-1FD8ED2CF5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3738690"/>
                  </p:ext>
                </p:extLst>
              </p:nvPr>
            </p:nvGraphicFramePr>
            <p:xfrm rot="4608744">
              <a:off x="7708605" y="5618243"/>
              <a:ext cx="1041990" cy="1041990"/>
            </p:xfrm>
            <a:graphic>
              <a:graphicData uri="http://schemas.microsoft.com/office/drawing/2017/model3d">
                <am3d:model3d r:embed="rId9">
                  <am3d:spPr>
                    <a:xfrm rot="4608744">
                      <a:off x="0" y="0"/>
                      <a:ext cx="1041990" cy="1041990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5410109" ay="165845" az="5609638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70507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Octahedron">
                <a:extLst>
                  <a:ext uri="{FF2B5EF4-FFF2-40B4-BE49-F238E27FC236}">
                    <a16:creationId xmlns:a16="http://schemas.microsoft.com/office/drawing/2014/main" id="{9C058F66-02D4-1973-6D86-1FD8ED2CF5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4608744">
                <a:off x="7708605" y="5618243"/>
                <a:ext cx="1041990" cy="1041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31D924A6-1646-3639-3DEF-87922D8671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0700344"/>
                  </p:ext>
                </p:extLst>
              </p:nvPr>
            </p:nvGraphicFramePr>
            <p:xfrm>
              <a:off x="806544" y="621940"/>
              <a:ext cx="361443" cy="342420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361443" cy="34242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680433" ay="-65691" az="789323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31D924A6-1646-3639-3DEF-87922D8671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544" y="621940"/>
                <a:ext cx="361443" cy="3424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0C93-50A8-27E6-FF8E-D81BD2D2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8406CF16-8A76-65EB-1E6A-26436B9518FC}"/>
              </a:ext>
            </a:extLst>
          </p:cNvPr>
          <p:cNvSpPr/>
          <p:nvPr/>
        </p:nvSpPr>
        <p:spPr>
          <a:xfrm rot="10800000">
            <a:off x="7238999" y="0"/>
            <a:ext cx="1904999" cy="1600200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C119DE50-D30C-DA64-7E4C-0BDCEE044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8215910" y="0"/>
            <a:ext cx="928090" cy="83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1985B0-6705-0B3B-C69B-4803312D8AB3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03854C-BD2F-2D89-7093-A497DC3964BC}"/>
              </a:ext>
            </a:extLst>
          </p:cNvPr>
          <p:cNvSpPr txBox="1">
            <a:spLocks/>
          </p:cNvSpPr>
          <p:nvPr/>
        </p:nvSpPr>
        <p:spPr>
          <a:xfrm>
            <a:off x="762000" y="3733799"/>
            <a:ext cx="7467600" cy="1882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B671C9-639C-2E4A-6CBF-D2B3E166D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662" y="0"/>
            <a:ext cx="9258662" cy="6857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979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86EF-18D9-0D2D-6EEA-E97B4954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9A950E07-FFBA-B438-6EB1-A68858C12A81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FB7B9AF4-A498-60C9-F2A6-222F91F33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AAB552-C204-9384-7848-C3B51E423BC9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Octahedron">
                <a:extLst>
                  <a:ext uri="{FF2B5EF4-FFF2-40B4-BE49-F238E27FC236}">
                    <a16:creationId xmlns:a16="http://schemas.microsoft.com/office/drawing/2014/main" id="{6AD892F6-DB3E-043E-A88F-F8E3A34129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645739"/>
                  </p:ext>
                </p:extLst>
              </p:nvPr>
            </p:nvGraphicFramePr>
            <p:xfrm rot="4608744">
              <a:off x="8008522" y="5582297"/>
              <a:ext cx="1023046" cy="1041992"/>
            </p:xfrm>
            <a:graphic>
              <a:graphicData uri="http://schemas.microsoft.com/office/drawing/2017/model3d">
                <am3d:model3d r:embed="rId3">
                  <am3d:spPr>
                    <a:xfrm rot="4608744">
                      <a:off x="0" y="0"/>
                      <a:ext cx="1023046" cy="1041992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4679448" ay="-94895" az="-44361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0507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Octahedron">
                <a:extLst>
                  <a:ext uri="{FF2B5EF4-FFF2-40B4-BE49-F238E27FC236}">
                    <a16:creationId xmlns:a16="http://schemas.microsoft.com/office/drawing/2014/main" id="{6AD892F6-DB3E-043E-A88F-F8E3A34129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4608744">
                <a:off x="8008522" y="5582297"/>
                <a:ext cx="1023046" cy="1041992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5A87EE8-8A94-C659-EC72-9AA2FD8750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91"/>
          <a:stretch>
            <a:fillRect/>
          </a:stretch>
        </p:blipFill>
        <p:spPr>
          <a:xfrm>
            <a:off x="-114661" y="5121"/>
            <a:ext cx="9258662" cy="6860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1584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11CB-CC40-5F1C-7869-39CD1B6A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8064-2E9B-E9BF-5DEA-09E361282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681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7B9CE-28AF-CA49-4639-59E0B2D1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DFFD616-46A0-C6F7-B07F-F44F5E2D3815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6934A4F2-3A6A-08D7-4666-FEE2F0061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10CB6E-EB4C-D81E-8D91-512642D4DBF2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 descr="Octahedron">
                <a:extLst>
                  <a:ext uri="{FF2B5EF4-FFF2-40B4-BE49-F238E27FC236}">
                    <a16:creationId xmlns:a16="http://schemas.microsoft.com/office/drawing/2014/main" id="{2920040B-04C6-4482-0235-499B3F277D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3117380"/>
                  </p:ext>
                </p:extLst>
              </p:nvPr>
            </p:nvGraphicFramePr>
            <p:xfrm rot="4608744">
              <a:off x="7265864" y="5413245"/>
              <a:ext cx="1083369" cy="1102377"/>
            </p:xfrm>
            <a:graphic>
              <a:graphicData uri="http://schemas.microsoft.com/office/drawing/2017/model3d">
                <am3d:model3d r:embed="rId3">
                  <am3d:spPr>
                    <a:xfrm rot="4608744">
                      <a:off x="0" y="0"/>
                      <a:ext cx="1083369" cy="1102377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-5401289" ay="-188081" az="-537647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8056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 descr="Octahedron">
                <a:extLst>
                  <a:ext uri="{FF2B5EF4-FFF2-40B4-BE49-F238E27FC236}">
                    <a16:creationId xmlns:a16="http://schemas.microsoft.com/office/drawing/2014/main" id="{2920040B-04C6-4482-0235-499B3F277D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4608744">
                <a:off x="7265864" y="5413245"/>
                <a:ext cx="1083369" cy="1102377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hape 9">
            <a:extLst>
              <a:ext uri="{FF2B5EF4-FFF2-40B4-BE49-F238E27FC236}">
                <a16:creationId xmlns:a16="http://schemas.microsoft.com/office/drawing/2014/main" id="{21CEFC6C-6450-EC85-F115-94BCE6E78FE3}"/>
              </a:ext>
            </a:extLst>
          </p:cNvPr>
          <p:cNvSpPr/>
          <p:nvPr/>
        </p:nvSpPr>
        <p:spPr>
          <a:xfrm>
            <a:off x="567039" y="370610"/>
            <a:ext cx="450533" cy="477549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839E634E-D037-DE18-D9CF-7D473E4027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2751539"/>
                  </p:ext>
                </p:extLst>
              </p:nvPr>
            </p:nvGraphicFramePr>
            <p:xfrm>
              <a:off x="622901" y="419152"/>
              <a:ext cx="342420" cy="380467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420" cy="380467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6041869" ay="2301522" az="-641584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07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839E634E-D037-DE18-D9CF-7D473E402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901" y="419152"/>
                <a:ext cx="342420" cy="38046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BB5E87F-77AA-DD9B-CDA6-2759A87CDFD8}"/>
              </a:ext>
            </a:extLst>
          </p:cNvPr>
          <p:cNvSpPr txBox="1"/>
          <p:nvPr/>
        </p:nvSpPr>
        <p:spPr>
          <a:xfrm>
            <a:off x="685800" y="1600200"/>
            <a:ext cx="624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preliminary property-document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repetitive manual document-reading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identification of missing information and mismatches.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risk flagging with severity and explanation.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verification report for buyers, banks, builders and lawyers.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safer property decision-making.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661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6C3C-3949-E6DB-9E8C-49B75C39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562" y="124474"/>
            <a:ext cx="76200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B7A9304D-5F29-0BAC-530C-A9994AD3D96C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20A9A669-69A7-4CD5-8228-DA90356C6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7B5B4E-4B3A-D3CE-B4AD-578CE8EE0DF5}"/>
              </a:ext>
            </a:extLst>
          </p:cNvPr>
          <p:cNvSpPr txBox="1"/>
          <p:nvPr/>
        </p:nvSpPr>
        <p:spPr>
          <a:xfrm>
            <a:off x="723900" y="1524000"/>
            <a:ext cx="7696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property documents into one verification workflow.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assists with document reading, information extraction and cross-verification.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help protect users and property documents.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reports make verification results easier to review and share.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professional due diligence and does not replace qualified legal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it aims to make property verification faster, secure and reliable.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89DA08-4D5B-923A-8EA0-7F4395BCBF1A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 descr="Octahedron">
                <a:extLst>
                  <a:ext uri="{FF2B5EF4-FFF2-40B4-BE49-F238E27FC236}">
                    <a16:creationId xmlns:a16="http://schemas.microsoft.com/office/drawing/2014/main" id="{4FF0205D-6FBE-4AF8-73DB-C75FD6965B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3656096"/>
                  </p:ext>
                </p:extLst>
              </p:nvPr>
            </p:nvGraphicFramePr>
            <p:xfrm rot="4608744">
              <a:off x="7238999" y="5413938"/>
              <a:ext cx="1041992" cy="1041992"/>
            </p:xfrm>
            <a:graphic>
              <a:graphicData uri="http://schemas.microsoft.com/office/drawing/2017/model3d">
                <am3d:model3d r:embed="rId3">
                  <am3d:spPr>
                    <a:xfrm rot="4608744">
                      <a:off x="0" y="0"/>
                      <a:ext cx="1041992" cy="1041992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-5423383" ay="-276487" az="569008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0507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 descr="Octahedron">
                <a:extLst>
                  <a:ext uri="{FF2B5EF4-FFF2-40B4-BE49-F238E27FC236}">
                    <a16:creationId xmlns:a16="http://schemas.microsoft.com/office/drawing/2014/main" id="{4FF0205D-6FBE-4AF8-73DB-C75FD6965B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4608744">
                <a:off x="7238999" y="5413938"/>
                <a:ext cx="1041992" cy="104199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Shape 9">
            <a:extLst>
              <a:ext uri="{FF2B5EF4-FFF2-40B4-BE49-F238E27FC236}">
                <a16:creationId xmlns:a16="http://schemas.microsoft.com/office/drawing/2014/main" id="{9947BE56-4DB1-EED1-70FB-38A8EEF6DC45}"/>
              </a:ext>
            </a:extLst>
          </p:cNvPr>
          <p:cNvSpPr/>
          <p:nvPr/>
        </p:nvSpPr>
        <p:spPr>
          <a:xfrm>
            <a:off x="568845" y="457200"/>
            <a:ext cx="450533" cy="477549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Tetragonal Pyramid Red">
                <a:extLst>
                  <a:ext uri="{FF2B5EF4-FFF2-40B4-BE49-F238E27FC236}">
                    <a16:creationId xmlns:a16="http://schemas.microsoft.com/office/drawing/2014/main" id="{B6F2D603-3548-8A52-75EA-F3E6DE721C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7682664"/>
                  </p:ext>
                </p:extLst>
              </p:nvPr>
            </p:nvGraphicFramePr>
            <p:xfrm>
              <a:off x="632412" y="521711"/>
              <a:ext cx="323396" cy="32339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3396" cy="323396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5084962" ay="-567053" az="-7154073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Tetragonal Pyramid Red">
                <a:extLst>
                  <a:ext uri="{FF2B5EF4-FFF2-40B4-BE49-F238E27FC236}">
                    <a16:creationId xmlns:a16="http://schemas.microsoft.com/office/drawing/2014/main" id="{B6F2D603-3548-8A52-75EA-F3E6DE721C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412" y="521711"/>
                <a:ext cx="323396" cy="3233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8891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4662" y="124474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74DD404-5754-AD16-1638-E7AE44E7550D}"/>
              </a:ext>
            </a:extLst>
          </p:cNvPr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>
            <a:extLst>
              <a:ext uri="{FF2B5EF4-FFF2-40B4-BE49-F238E27FC236}">
                <a16:creationId xmlns:a16="http://schemas.microsoft.com/office/drawing/2014/main" id="{AB2AD0B1-AF64-EC72-5418-9B8C0B9EC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7674C0-8112-4A10-28B6-C0FD4FA13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111" y="1219849"/>
            <a:ext cx="746601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Abualhamayl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for Real Estate Provenance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Nayana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Land Record Digitization &amp;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Galloway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the Bounds for Integration of Blockchain Titles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Dias &amp; Correia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Data Matching for Blockchain-Supported Real Estate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R. Nagaraja &amp; R. Shushma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AI-Blockchain Framework for Secure Land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Sumaira A. Shaikh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Guru: Digital Framework for Property Data Governance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49AE49-4876-71DE-767A-EB5D4D4DA075}"/>
              </a:ext>
            </a:extLst>
          </p:cNvPr>
          <p:cNvSpPr/>
          <p:nvPr/>
        </p:nvSpPr>
        <p:spPr>
          <a:xfrm rot="5400000">
            <a:off x="-3426187" y="3311524"/>
            <a:ext cx="6858000" cy="23494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 descr="Octahedron">
                <a:extLst>
                  <a:ext uri="{FF2B5EF4-FFF2-40B4-BE49-F238E27FC236}">
                    <a16:creationId xmlns:a16="http://schemas.microsoft.com/office/drawing/2014/main" id="{D13FDE06-4975-8F92-1D72-26BC42F913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6762110"/>
                  </p:ext>
                </p:extLst>
              </p:nvPr>
            </p:nvGraphicFramePr>
            <p:xfrm rot="4608744">
              <a:off x="7286362" y="5461301"/>
              <a:ext cx="947266" cy="947266"/>
            </p:xfrm>
            <a:graphic>
              <a:graphicData uri="http://schemas.microsoft.com/office/drawing/2017/model3d">
                <am3d:model3d r:embed="rId3">
                  <am3d:spPr>
                    <a:xfrm rot="4608744">
                      <a:off x="0" y="0"/>
                      <a:ext cx="947266" cy="947266"/>
                    </a:xfrm>
                    <a:prstGeom prst="rect">
                      <a:avLst/>
                    </a:prstGeom>
                  </am3d:spPr>
                  <am3d:camera>
                    <am3d:pos x="0" y="0" z="7782515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49166" d="1000000"/>
                    <am3d:preTrans dx="116092" dy="-15611122" dz="-99720"/>
                    <am3d:scale>
                      <am3d:sx n="1000000" d="1000000"/>
                      <am3d:sy n="1000000" d="1000000"/>
                      <am3d:sz n="1000000" d="1000000"/>
                    </am3d:scale>
                    <am3d:rot ax="5969804" ay="-295535" az="-916987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0507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 descr="Octahedron">
                <a:extLst>
                  <a:ext uri="{FF2B5EF4-FFF2-40B4-BE49-F238E27FC236}">
                    <a16:creationId xmlns:a16="http://schemas.microsoft.com/office/drawing/2014/main" id="{D13FDE06-4975-8F92-1D72-26BC42F913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4608744">
                <a:off x="7286362" y="5461301"/>
                <a:ext cx="947266" cy="94726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hape 9">
            <a:extLst>
              <a:ext uri="{FF2B5EF4-FFF2-40B4-BE49-F238E27FC236}">
                <a16:creationId xmlns:a16="http://schemas.microsoft.com/office/drawing/2014/main" id="{BB58712C-5869-A87F-AFEB-5F4FD491D6A5}"/>
              </a:ext>
            </a:extLst>
          </p:cNvPr>
          <p:cNvSpPr/>
          <p:nvPr/>
        </p:nvSpPr>
        <p:spPr>
          <a:xfrm>
            <a:off x="568845" y="457200"/>
            <a:ext cx="450533" cy="477549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>
            <a:solidFill>
              <a:schemeClr val="accent5"/>
            </a:solidFill>
          </a:ln>
        </p:spPr>
        <p:txBody>
          <a:bodyPr/>
          <a:lstStyle/>
          <a:p>
            <a:endParaRPr lang="en-IN" sz="135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6271F60B-E5B3-4A07-2D04-1E74B31A74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8425022"/>
                  </p:ext>
                </p:extLst>
              </p:nvPr>
            </p:nvGraphicFramePr>
            <p:xfrm>
              <a:off x="660639" y="480307"/>
              <a:ext cx="323396" cy="43913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3396" cy="43913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366499" ay="285720" az="-3617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Tetragonal Pyramid Red">
                <a:extLst>
                  <a:ext uri="{FF2B5EF4-FFF2-40B4-BE49-F238E27FC236}">
                    <a16:creationId xmlns:a16="http://schemas.microsoft.com/office/drawing/2014/main" id="{6271F60B-E5B3-4A07-2D04-1E74B31A74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639" y="480307"/>
                <a:ext cx="323396" cy="43913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22-d2nf9uh8bjvh7rlj0es0.jpg"/>
          <p:cNvPicPr>
            <a:picLocks noChangeAspect="1"/>
          </p:cNvPicPr>
          <p:nvPr/>
        </p:nvPicPr>
        <p:blipFill>
          <a:blip r:embed="rId3"/>
          <a:srcRect b="26208"/>
          <a:stretch/>
        </p:blipFill>
        <p:spPr>
          <a:xfrm>
            <a:off x="-476" y="0"/>
            <a:ext cx="9144000" cy="6857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765" y="1"/>
            <a:ext cx="9143524" cy="5626690"/>
          </a:xfrm>
          <a:prstGeom prst="rect">
            <a:avLst/>
          </a:prstGeom>
          <a:gradFill flip="none" rotWithShape="1">
            <a:gsLst>
              <a:gs pos="0">
                <a:srgbClr val="F6F4ED">
                  <a:alpha val="0"/>
                </a:srgbClr>
              </a:gs>
              <a:gs pos="34000">
                <a:srgbClr val="F6F4ED">
                  <a:alpha val="0"/>
                </a:srgbClr>
              </a:gs>
              <a:gs pos="65000">
                <a:srgbClr val="F6F4ED"/>
              </a:gs>
              <a:gs pos="95000">
                <a:srgbClr val="F6F4ED"/>
              </a:gs>
              <a:gs pos="100000">
                <a:srgbClr val="F6F4ED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1"/>
          <p:cNvSpPr/>
          <p:nvPr/>
        </p:nvSpPr>
        <p:spPr>
          <a:xfrm>
            <a:off x="0" y="857250"/>
            <a:ext cx="9143524" cy="47977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92016" y="1298087"/>
            <a:ext cx="7359015" cy="139653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r>
              <a:rPr lang="en-US" sz="8625" b="1" dirty="0">
                <a:solidFill>
                  <a:srgbClr val="00000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THANK YOU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773204" y="4163377"/>
            <a:ext cx="1559243" cy="311468"/>
          </a:xfrm>
          <a:prstGeom prst="roundRect">
            <a:avLst>
              <a:gd name="adj" fmla="val 50000"/>
            </a:avLst>
          </a:prstGeom>
          <a:solidFill>
            <a:srgbClr val="F6F4ED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" name="Text 4"/>
          <p:cNvSpPr/>
          <p:nvPr/>
        </p:nvSpPr>
        <p:spPr>
          <a:xfrm>
            <a:off x="2773204" y="4163377"/>
            <a:ext cx="1559243" cy="3114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33211" y="4199317"/>
            <a:ext cx="1439228" cy="253916"/>
          </a:xfrm>
          <a:prstGeom prst="rect">
            <a:avLst/>
          </a:prstGeom>
          <a:solidFill>
            <a:srgbClr val="F6F4ED"/>
          </a:solidFill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r>
              <a:rPr lang="en-US" sz="1200" dirty="0" err="1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AuroraX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11554" y="4163377"/>
            <a:ext cx="1559243" cy="311468"/>
          </a:xfrm>
          <a:prstGeom prst="roundRect">
            <a:avLst>
              <a:gd name="adj" fmla="val 50000"/>
            </a:avLst>
          </a:prstGeom>
          <a:solidFill>
            <a:srgbClr val="F6F4ED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Text 7"/>
          <p:cNvSpPr/>
          <p:nvPr/>
        </p:nvSpPr>
        <p:spPr>
          <a:xfrm>
            <a:off x="4811554" y="4163377"/>
            <a:ext cx="1559243" cy="3114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1561" y="4199317"/>
            <a:ext cx="1439228" cy="253916"/>
          </a:xfrm>
          <a:prstGeom prst="rect">
            <a:avLst/>
          </a:prstGeom>
          <a:solidFill>
            <a:srgbClr val="F6F4ED"/>
          </a:solidFill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2026/09/22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4822</TotalTime>
  <Words>879</Words>
  <Application>Microsoft Office PowerPoint</Application>
  <PresentationFormat>On-screen Show (4:3)</PresentationFormat>
  <Paragraphs>141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MiSans</vt:lpstr>
      <vt:lpstr>Times New Roman</vt:lpstr>
      <vt:lpstr>Office Theme</vt:lpstr>
      <vt:lpstr>PowerPoint Presentation</vt:lpstr>
      <vt:lpstr>     </vt:lpstr>
      <vt:lpstr>Contents</vt:lpstr>
      <vt:lpstr>Introduction </vt:lpstr>
      <vt:lpstr>  Literature Review </vt:lpstr>
      <vt:lpstr>PowerPoint Presentation</vt:lpstr>
      <vt:lpstr>PowerPoint Presentation</vt:lpstr>
      <vt:lpstr>Requirements</vt:lpstr>
      <vt:lpstr>PowerPoint Presentation</vt:lpstr>
      <vt:lpstr>PowerPoint Presentation</vt:lpstr>
      <vt:lpstr>Expected Outcome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dj</dc:creator>
  <cp:lastModifiedBy>UJJWAL KUMAR</cp:lastModifiedBy>
  <cp:revision>400</cp:revision>
  <dcterms:created xsi:type="dcterms:W3CDTF">2006-08-16T00:00:00Z</dcterms:created>
  <dcterms:modified xsi:type="dcterms:W3CDTF">2026-09-22T05:42:25Z</dcterms:modified>
</cp:coreProperties>
</file>